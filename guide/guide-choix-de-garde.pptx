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</a:rPr>
              <a:t>CHOIX DE GARDE — JUIN ▸ SEPT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</a:rPr>
              <a:t>Guide du médecin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</a:rPr>
              <a:t>Créer son compte, déclarer, suivre le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800" b="0">
                <a:solidFill>
                  <a:srgbClr val="64748B"/>
                </a:solidFill>
              </a:rPr>
              <a:t>Ce guide s'adresse aux médecins </a:t>
            </a:r>
            <a:r>
              <a:rPr sz="1800" b="1">
                <a:solidFill>
                  <a:srgbClr val="64748B"/>
                </a:solidFill>
              </a:rPr>
              <a:t>non-admins</a:t>
            </a:r>
            <a:r>
              <a:rPr sz="1800" b="0">
                <a:solidFill>
                  <a:srgbClr val="64748B"/>
                </a:solidFill>
              </a:rPr>
              <a:t> (mode lecteur). En 3 temps : créer son compte, renseigner ses </a:t>
            </a:r>
            <a:r>
              <a:rPr sz="1800" b="1">
                <a:solidFill>
                  <a:srgbClr val="64748B"/>
                </a:solidFill>
              </a:rPr>
              <a:t>indispos 🚫</a:t>
            </a:r>
            <a:r>
              <a:rPr sz="1800" b="0">
                <a:solidFill>
                  <a:srgbClr val="64748B"/>
                </a:solidFill>
              </a:rPr>
              <a:t> et ses </a:t>
            </a:r>
            <a:r>
              <a:rPr sz="1800" b="1">
                <a:solidFill>
                  <a:srgbClr val="64748B"/>
                </a:solidFill>
              </a:rPr>
              <a:t>vœux 💙</a:t>
            </a:r>
            <a:r>
              <a:rPr sz="1800" b="0">
                <a:solidFill>
                  <a:srgbClr val="64748B"/>
                </a:solidFill>
              </a:rPr>
              <a:t>, puis suivre l'attribution des gardes en temps réel.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023360"/>
            <a:ext cx="10789920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E3A8A"/>
                </a:solidFill>
              </a:rPr>
              <a:t>👉 Cette version est un point de départ — à adapter librement.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</a:rPr>
              <a:t>LE PRINCIPE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000" b="1">
                <a:solidFill>
                  <a:srgbClr val="0F172A"/>
                </a:solidFill>
              </a:rPr>
              <a:t>Des dates « choisissables » calculées à chaque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6400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0">
                <a:solidFill>
                  <a:srgbClr val="64748B"/>
                </a:solidFill>
              </a:rPr>
              <a:t>Les gardes se choisissent </a:t>
            </a:r>
            <a:r>
              <a:rPr sz="1700" b="1">
                <a:solidFill>
                  <a:srgbClr val="64748B"/>
                </a:solidFill>
              </a:rPr>
              <a:t>à tour de rôle</a:t>
            </a:r>
            <a:r>
              <a:rPr sz="1700" b="0">
                <a:solidFill>
                  <a:srgbClr val="64748B"/>
                </a:solidFill>
              </a:rPr>
              <a:t>. À votre tour, l'application </a:t>
            </a:r>
            <a:r>
              <a:rPr sz="1700" b="1">
                <a:solidFill>
                  <a:srgbClr val="64748B"/>
                </a:solidFill>
              </a:rPr>
              <a:t>croise trois informations</a:t>
            </a:r>
            <a:r>
              <a:rPr sz="1700" b="0">
                <a:solidFill>
                  <a:srgbClr val="64748B"/>
                </a:solidFill>
              </a:rPr>
              <a:t> pour ne mettre en avant que les dates qui conviennent — un gain de temps et moins d'erreurs.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6400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</a:rPr>
              <a:t>🚫  </a:t>
            </a:r>
            <a:r>
              <a:rPr sz="1500" b="1">
                <a:solidFill>
                  <a:srgbClr val="0F172A"/>
                </a:solidFill>
              </a:rPr>
              <a:t>Vos indispos</a:t>
            </a:r>
            <a:r>
              <a:rPr sz="1500" b="0">
                <a:solidFill>
                  <a:srgbClr val="0F172A"/>
                </a:solidFill>
              </a:rPr>
              <a:t> — les jours impossibles sont écartés.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</a:rPr>
              <a:t>🎯  </a:t>
            </a:r>
            <a:r>
              <a:rPr sz="1500" b="1">
                <a:solidFill>
                  <a:srgbClr val="0F172A"/>
                </a:solidFill>
              </a:rPr>
              <a:t>Vos objectifs</a:t>
            </a:r>
            <a:r>
              <a:rPr sz="1500" b="0">
                <a:solidFill>
                  <a:srgbClr val="0F172A"/>
                </a:solidFill>
              </a:rPr>
              <a:t> — combien de gardes, et sur quels sites.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</a:rPr>
              <a:t>📋  </a:t>
            </a:r>
            <a:r>
              <a:rPr sz="1500" b="1">
                <a:solidFill>
                  <a:srgbClr val="0F172A"/>
                </a:solidFill>
              </a:rPr>
              <a:t>Les règles du tour</a:t>
            </a:r>
            <a:r>
              <a:rPr sz="1500" b="0">
                <a:solidFill>
                  <a:srgbClr val="0F172A"/>
                </a:solidFill>
              </a:rPr>
              <a:t> — ce qui peut être pris à ce tour (semaine, WE/férié…).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</a:rPr>
              <a:t>🛏️  </a:t>
            </a:r>
            <a:r>
              <a:rPr sz="1500" b="1">
                <a:solidFill>
                  <a:srgbClr val="0F172A"/>
                </a:solidFill>
              </a:rPr>
              <a:t>Veille et lendemain d'une garde déjà prise</a:t>
            </a:r>
            <a:r>
              <a:rPr sz="1500" b="0">
                <a:solidFill>
                  <a:srgbClr val="0F172A"/>
                </a:solidFill>
              </a:rPr>
              <a:t> — écartés aussi (jamais deux gardes collées).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783080"/>
            <a:ext cx="320040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</a:rPr>
              <a:t>🚫  Vos indispos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2331720"/>
            <a:ext cx="320040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</a:rPr>
              <a:t>🎯  Vos objectifs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880360"/>
            <a:ext cx="320040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</a:rPr>
              <a:t>📋  Règles du tour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429000"/>
            <a:ext cx="320040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</a:rPr>
              <a:t>🛏️  Veille &amp; lendemain de garde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93192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400" b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4480559"/>
            <a:ext cx="3200400" cy="59436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1D4ED8"/>
                </a:solidFill>
              </a:rPr>
              <a:t>🔵  Dates choisissables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5212079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</a:rPr>
              <a:t>Le choix est </a:t>
            </a:r>
            <a:r>
              <a:rPr sz="1300" b="1">
                <a:solidFill>
                  <a:srgbClr val="64748B"/>
                </a:solidFill>
              </a:rPr>
              <a:t>guidé</a:t>
            </a:r>
            <a:r>
              <a:rPr sz="1300" b="0">
                <a:solidFill>
                  <a:srgbClr val="64748B"/>
                </a:solidFill>
              </a:rPr>
              <a:t> et plus rapide.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</a:rPr>
              <a:t>ÉTAPE 1 · COMPTE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000" b="1">
                <a:solidFill>
                  <a:srgbClr val="0F172A"/>
                </a:solidFill>
              </a:rPr>
              <a:t>Créer son compte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60350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</a:rPr>
              <a:t>1.  </a:t>
            </a:r>
            <a:r>
              <a:rPr sz="1800" b="0">
                <a:solidFill>
                  <a:srgbClr val="0F172A"/>
                </a:solidFill>
              </a:rPr>
              <a:t>Saisir un </a:t>
            </a:r>
            <a:r>
              <a:rPr sz="1800" b="1">
                <a:solidFill>
                  <a:srgbClr val="0F172A"/>
                </a:solidFill>
              </a:rPr>
              <a:t>email</a:t>
            </a:r>
            <a:r>
              <a:rPr sz="1800" b="0">
                <a:solidFill>
                  <a:srgbClr val="0F172A"/>
                </a:solidFill>
              </a:rPr>
              <a:t> et un </a:t>
            </a:r>
            <a:r>
              <a:rPr sz="1800" b="1">
                <a:solidFill>
                  <a:srgbClr val="0F172A"/>
                </a:solidFill>
              </a:rPr>
              <a:t>mot de passe</a:t>
            </a:r>
            <a:r>
              <a:rPr sz="1800" b="0">
                <a:solidFill>
                  <a:srgbClr val="0F172A"/>
                </a:solidFill>
              </a:rPr>
              <a:t>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</a:rPr>
              <a:t>2.  </a:t>
            </a:r>
            <a:r>
              <a:rPr sz="1800" b="0">
                <a:solidFill>
                  <a:srgbClr val="0F172A"/>
                </a:solidFill>
              </a:rPr>
              <a:t>Cliquer sur </a:t>
            </a:r>
            <a:r>
              <a:rPr sz="1800" b="1">
                <a:solidFill>
                  <a:srgbClr val="0F172A"/>
                </a:solidFill>
              </a:rPr>
              <a:t>« Créer un compte »</a:t>
            </a:r>
            <a:r>
              <a:rPr sz="1800" b="0">
                <a:solidFill>
                  <a:srgbClr val="0F172A"/>
                </a:solidFill>
              </a:rPr>
              <a:t> (la première fois seulement).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</a:rPr>
              <a:t>3.  </a:t>
            </a:r>
            <a:r>
              <a:rPr sz="1800" b="0">
                <a:solidFill>
                  <a:srgbClr val="0F172A"/>
                </a:solidFill>
              </a:rPr>
              <a:t>Les fois suivantes : </a:t>
            </a:r>
            <a:r>
              <a:rPr sz="1800" b="1">
                <a:solidFill>
                  <a:srgbClr val="0F172A"/>
                </a:solidFill>
              </a:rPr>
              <a:t>« Se connecter »</a:t>
            </a:r>
            <a:r>
              <a:rPr sz="1800" b="0">
                <a:solidFill>
                  <a:srgbClr val="0F172A"/>
                </a:solidFill>
              </a:rPr>
              <a:t> avec les mêmes identifiants.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572000"/>
            <a:ext cx="60350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E3A8A"/>
                </a:solidFill>
              </a:rPr>
              <a:t>Un seul compte par personne — le mot de passe est à conserver précieusement.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011680"/>
            <a:ext cx="3749039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224028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0F172A"/>
                </a:solidFill>
              </a:rPr>
              <a:t>Choix Garde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</a:rPr>
              <a:t>juin – sept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71800"/>
            <a:ext cx="3291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475569"/>
                </a:solidFill>
              </a:rPr>
              <a:t>Email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291840"/>
            <a:ext cx="32004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749039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475569"/>
                </a:solidFill>
              </a:rPr>
              <a:t>Mot de passe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4069080"/>
            <a:ext cx="32004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0" y="4572000"/>
            <a:ext cx="155448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Se connecter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4572000"/>
            <a:ext cx="15544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</a:rPr>
              <a:t>Créer un compte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</a:rPr>
              <a:t>ÉTAPE 1 · IDENTITÉ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000" b="1">
                <a:solidFill>
                  <a:srgbClr val="0F172A"/>
                </a:solidFill>
              </a:rPr>
              <a:t>Première connexion : choisir son nom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6035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800" b="0">
                <a:solidFill>
                  <a:srgbClr val="64748B"/>
                </a:solidFill>
              </a:rPr>
              <a:t>À la toute première connexion, l'application demande de </a:t>
            </a:r>
            <a:r>
              <a:rPr sz="1800" b="1">
                <a:solidFill>
                  <a:srgbClr val="64748B"/>
                </a:solidFill>
              </a:rPr>
              <a:t>s'associer à son nom</a:t>
            </a:r>
            <a:r>
              <a:rPr sz="1800" b="0">
                <a:solidFill>
                  <a:srgbClr val="64748B"/>
                </a:solidFill>
              </a:rPr>
              <a:t> dans la liste des médecins.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60350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>
                <a:solidFill>
                  <a:srgbClr val="0F172A"/>
                </a:solidFill>
              </a:rPr>
              <a:t>1.  </a:t>
            </a:r>
            <a:r>
              <a:rPr sz="1800" b="0">
                <a:solidFill>
                  <a:srgbClr val="0F172A"/>
                </a:solidFill>
              </a:rPr>
              <a:t>Sélectionner </a:t>
            </a:r>
            <a:r>
              <a:rPr sz="1800" b="1">
                <a:solidFill>
                  <a:srgbClr val="0F172A"/>
                </a:solidFill>
              </a:rPr>
              <a:t>son nom</a:t>
            </a:r>
            <a:r>
              <a:rPr sz="1800" b="0">
                <a:solidFill>
                  <a:srgbClr val="0F172A"/>
                </a:solidFill>
              </a:rPr>
              <a:t> dans le menu déroulant.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>
                <a:solidFill>
                  <a:srgbClr val="0F172A"/>
                </a:solidFill>
              </a:rPr>
              <a:t>2.  </a:t>
            </a:r>
            <a:r>
              <a:rPr sz="1800" b="0">
                <a:solidFill>
                  <a:srgbClr val="0F172A"/>
                </a:solidFill>
              </a:rPr>
              <a:t>Cliquer sur </a:t>
            </a:r>
            <a:r>
              <a:rPr sz="1800" b="1">
                <a:solidFill>
                  <a:srgbClr val="0F172A"/>
                </a:solidFill>
              </a:rPr>
              <a:t>« Valider »</a:t>
            </a:r>
            <a:r>
              <a:rPr sz="1800" b="0">
                <a:solidFill>
                  <a:srgbClr val="0F172A"/>
                </a:solidFill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6035040" cy="10058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92400E"/>
                </a:solidFill>
              </a:rPr>
              <a:t>⚠️ Bien sélectionner </a:t>
            </a:r>
            <a:r>
              <a:rPr sz="1500" b="1">
                <a:solidFill>
                  <a:srgbClr val="92400E"/>
                </a:solidFill>
              </a:rPr>
              <a:t>son propre</a:t>
            </a:r>
            <a:r>
              <a:rPr sz="1500" b="0">
                <a:solidFill>
                  <a:srgbClr val="92400E"/>
                </a:solidFill>
              </a:rPr>
              <a:t> nom : c'est lui qui porte les objectifs, les vœux et les gardes.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10312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28600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</a:rPr>
              <a:t>Première connexion — choisis ton nom dans la liste 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3063240"/>
            <a:ext cx="31089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3145536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</a:rPr>
              <a:t>Dr Martin  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703320"/>
            <a:ext cx="310896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Valider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</a:rPr>
              <a:t>REPÈRES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000" b="1">
                <a:solidFill>
                  <a:srgbClr val="0F172A"/>
                </a:solidFill>
              </a:rPr>
              <a:t>Deux onglets à disposition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6309360" cy="5486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1481328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</a:rPr>
              <a:t>Planning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12848" y="2029968"/>
            <a:ext cx="1097280" cy="42062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64748B"/>
                </a:solidFill>
              </a:rPr>
              <a:t>Perso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2029968"/>
            <a:ext cx="2505456" cy="42062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B0B8C4"/>
                </a:solidFill>
              </a:rPr>
              <a:t>Réglages · admin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98464" y="2029968"/>
            <a:ext cx="1865376" cy="42062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64748B"/>
                </a:solidFill>
              </a:rPr>
              <a:t>Déconnexion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</a:rPr>
              <a:t>🗓️  </a:t>
            </a:r>
            <a:r>
              <a:rPr sz="1800" b="1">
                <a:solidFill>
                  <a:srgbClr val="0F172A"/>
                </a:solidFill>
              </a:rPr>
              <a:t>Planning</a:t>
            </a:r>
            <a:r>
              <a:rPr sz="1800" b="0">
                <a:solidFill>
                  <a:srgbClr val="0F172A"/>
                </a:solidFill>
              </a:rPr>
              <a:t> — le calendrier des gardes, en </a:t>
            </a:r>
            <a:r>
              <a:rPr sz="1800" b="1">
                <a:solidFill>
                  <a:srgbClr val="0F172A"/>
                </a:solidFill>
              </a:rPr>
              <a:t>lecture seule</a:t>
            </a:r>
            <a:r>
              <a:rPr sz="1800" b="0">
                <a:solidFill>
                  <a:srgbClr val="0F172A"/>
                </a:solidFill>
              </a:rPr>
              <a:t>. Il permet de suivre qui prend quoi, en temps réel.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</a:rPr>
              <a:t>👤  </a:t>
            </a:r>
            <a:r>
              <a:rPr sz="1800" b="1">
                <a:solidFill>
                  <a:srgbClr val="0F172A"/>
                </a:solidFill>
              </a:rPr>
              <a:t>Perso</a:t>
            </a:r>
            <a:r>
              <a:rPr sz="1800" b="0">
                <a:solidFill>
                  <a:srgbClr val="0F172A"/>
                </a:solidFill>
              </a:rPr>
              <a:t> — l'espace personnel : les objectifs, et l'endroit où déclarer ses </a:t>
            </a:r>
            <a:r>
              <a:rPr sz="1800" b="1">
                <a:solidFill>
                  <a:srgbClr val="0F172A"/>
                </a:solidFill>
              </a:rPr>
              <a:t>indispos 🚫</a:t>
            </a:r>
            <a:r>
              <a:rPr sz="1800" b="0">
                <a:solidFill>
                  <a:srgbClr val="0F172A"/>
                </a:solidFill>
              </a:rPr>
              <a:t> et ses </a:t>
            </a:r>
            <a:r>
              <a:rPr sz="1800" b="1">
                <a:solidFill>
                  <a:srgbClr val="0F172A"/>
                </a:solidFill>
              </a:rPr>
              <a:t>vœux 💙</a:t>
            </a:r>
            <a:r>
              <a:rPr sz="1800" b="0">
                <a:solidFill>
                  <a:srgbClr val="0F172A"/>
                </a:solidFill>
              </a:rPr>
              <a:t>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</a:rPr>
              <a:t>🔒  </a:t>
            </a:r>
            <a:r>
              <a:rPr sz="1800" b="1">
                <a:solidFill>
                  <a:srgbClr val="0F172A"/>
                </a:solidFill>
              </a:rPr>
              <a:t>Réglages</a:t>
            </a:r>
            <a:r>
              <a:rPr sz="1800" b="0">
                <a:solidFill>
                  <a:srgbClr val="0F172A"/>
                </a:solidFill>
              </a:rPr>
              <a:t> — réservé à l'admin, il n'apparaît pas côté médecin.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120640"/>
            <a:ext cx="10789920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E3A8A"/>
                </a:solidFill>
              </a:rPr>
              <a:t>Le passage de </a:t>
            </a:r>
            <a:r>
              <a:rPr sz="1500" b="1">
                <a:solidFill>
                  <a:srgbClr val="1E3A8A"/>
                </a:solidFill>
              </a:rPr>
              <a:t>Perso</a:t>
            </a:r>
            <a:r>
              <a:rPr sz="1500" b="0">
                <a:solidFill>
                  <a:srgbClr val="1E3A8A"/>
                </a:solidFill>
              </a:rPr>
              <a:t> à </a:t>
            </a:r>
            <a:r>
              <a:rPr sz="1500" b="1">
                <a:solidFill>
                  <a:srgbClr val="1E3A8A"/>
                </a:solidFill>
              </a:rPr>
              <a:t>Planning</a:t>
            </a:r>
            <a:r>
              <a:rPr sz="1500" b="0">
                <a:solidFill>
                  <a:srgbClr val="1E3A8A"/>
                </a:solidFill>
              </a:rPr>
              <a:t> est possible à tout moment : les déclarations sont enregistrées automatiquement.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</a:rPr>
              <a:t>ÉTAPE 2 · PERSO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000" b="1">
                <a:solidFill>
                  <a:srgbClr val="0F172A"/>
                </a:solidFill>
              </a:rPr>
              <a:t>L'onglet Perso en un coup d'œil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6126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>
                <a:solidFill>
                  <a:srgbClr val="0F172A"/>
                </a:solidFill>
              </a:rPr>
              <a:t>🎯  </a:t>
            </a:r>
            <a:r>
              <a:rPr sz="1800" b="1">
                <a:solidFill>
                  <a:srgbClr val="0F172A"/>
                </a:solidFill>
              </a:rPr>
              <a:t>Mes objectifs restants</a:t>
            </a:r>
            <a:r>
              <a:rPr sz="1800" b="0">
                <a:solidFill>
                  <a:srgbClr val="0F172A"/>
                </a:solidFill>
              </a:rPr>
              <a:t> — le nombre de gardes restant à obtenir (par site, semaine / WE-férié).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>
                <a:solidFill>
                  <a:srgbClr val="0F172A"/>
                </a:solidFill>
              </a:rPr>
              <a:t>⏭️  </a:t>
            </a:r>
            <a:r>
              <a:rPr sz="1800" b="1">
                <a:solidFill>
                  <a:srgbClr val="0F172A"/>
                </a:solidFill>
              </a:rPr>
              <a:t>À mon prochain tour</a:t>
            </a:r>
            <a:r>
              <a:rPr sz="1800" b="0">
                <a:solidFill>
                  <a:srgbClr val="0F172A"/>
                </a:solidFill>
              </a:rPr>
              <a:t> — un rappel de ce qui pourra être choisi.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>
                <a:solidFill>
                  <a:srgbClr val="0F172A"/>
                </a:solidFill>
              </a:rPr>
              <a:t>🚫  </a:t>
            </a:r>
            <a:r>
              <a:rPr sz="1800" b="1">
                <a:solidFill>
                  <a:srgbClr val="0F172A"/>
                </a:solidFill>
              </a:rPr>
              <a:t>Indispos</a:t>
            </a:r>
            <a:r>
              <a:rPr sz="1800" b="0">
                <a:solidFill>
                  <a:srgbClr val="0F172A"/>
                </a:solidFill>
              </a:rPr>
              <a:t> — les jours d'indisponibilité.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>
                <a:solidFill>
                  <a:srgbClr val="0F172A"/>
                </a:solidFill>
              </a:rPr>
              <a:t>💙  </a:t>
            </a:r>
            <a:r>
              <a:rPr sz="1800" b="1">
                <a:solidFill>
                  <a:srgbClr val="0F172A"/>
                </a:solidFill>
              </a:rPr>
              <a:t>Vœux</a:t>
            </a:r>
            <a:r>
              <a:rPr sz="1800" b="0">
                <a:solidFill>
                  <a:srgbClr val="0F172A"/>
                </a:solidFill>
              </a:rPr>
              <a:t> — les jours / sites souhaités.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937760"/>
            <a:ext cx="6126480" cy="914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66534"/>
                </a:solidFill>
              </a:rPr>
              <a:t>Plus les indispos et vœux sont à jour, mieux l'attribution correspondra aux préférences de chacun.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194560"/>
            <a:ext cx="4023360" cy="50292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0" y="2194560"/>
            <a:ext cx="4023360" cy="50292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Dr Martin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697480"/>
            <a:ext cx="40233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2834640"/>
            <a:ext cx="1920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64748B"/>
                </a:solidFill>
              </a:rPr>
              <a:t>OBJECTIFS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200" b="0">
                <a:solidFill>
                  <a:srgbClr val="0F172A"/>
                </a:solidFill>
              </a:rPr>
              <a:t>HMN · Sem 7 · WE 4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</a:rPr>
              <a:t>ACH · Sem 5 · WE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2880360"/>
            <a:ext cx="1737360" cy="10058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2971800"/>
            <a:ext cx="1554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166534"/>
                </a:solidFill>
              </a:rPr>
              <a:t>Gardes restantes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</a:rPr>
              <a:t>HMN 3 · ACH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</a:rPr>
              <a:t>ÉTAPE 2 · DÉCLARER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000" b="1">
                <a:solidFill>
                  <a:srgbClr val="0F172A"/>
                </a:solidFill>
              </a:rPr>
              <a:t>Poser une indispo 🚫 ou un vœu 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61264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</a:rPr>
              <a:t>Clic sur la </a:t>
            </a:r>
            <a:r>
              <a:rPr sz="1400" b="1">
                <a:solidFill>
                  <a:srgbClr val="475569"/>
                </a:solidFill>
              </a:rPr>
              <a:t>date</a:t>
            </a:r>
            <a:r>
              <a:rPr sz="1400" b="0">
                <a:solidFill>
                  <a:srgbClr val="475569"/>
                </a:solidFill>
              </a:rPr>
              <a:t> = 🚫 indispo (re-clic = annuler).  </a:t>
            </a:r>
            <a:r>
              <a:rPr sz="1400" b="0">
                <a:solidFill>
                  <a:srgbClr val="475569"/>
                </a:solidFill>
              </a:rPr>
              <a:t>Clic sur </a:t>
            </a:r>
            <a:r>
              <a:rPr sz="1400" b="1">
                <a:solidFill>
                  <a:srgbClr val="475569"/>
                </a:solidFill>
              </a:rPr>
              <a:t>HMN</a:t>
            </a:r>
            <a:r>
              <a:rPr sz="1400" b="0">
                <a:solidFill>
                  <a:srgbClr val="475569"/>
                </a:solidFill>
              </a:rPr>
              <a:t> ou </a:t>
            </a:r>
            <a:r>
              <a:rPr sz="1400" b="1">
                <a:solidFill>
                  <a:srgbClr val="475569"/>
                </a:solidFill>
              </a:rPr>
              <a:t>ACH</a:t>
            </a:r>
            <a:r>
              <a:rPr sz="1400" b="0">
                <a:solidFill>
                  <a:srgbClr val="475569"/>
                </a:solidFill>
              </a:rPr>
              <a:t> = 💙 vœu sur ce site (re-clic = annuler).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6309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100"/>
              </a:spcAft>
            </a:pPr>
            <a:r>
              <a:rPr sz="1700">
                <a:solidFill>
                  <a:srgbClr val="0F172A"/>
                </a:solidFill>
              </a:rPr>
              <a:t>🚫  </a:t>
            </a:r>
            <a:r>
              <a:rPr sz="1700" b="1">
                <a:solidFill>
                  <a:srgbClr val="0F172A"/>
                </a:solidFill>
              </a:rPr>
              <a:t>Indispo</a:t>
            </a:r>
            <a:r>
              <a:rPr sz="1700" b="0">
                <a:solidFill>
                  <a:srgbClr val="0F172A"/>
                </a:solidFill>
              </a:rPr>
              <a:t> : cliquer sur le </a:t>
            </a:r>
            <a:r>
              <a:rPr sz="1700" b="1">
                <a:solidFill>
                  <a:srgbClr val="0F172A"/>
                </a:solidFill>
              </a:rPr>
              <a:t>numéro du jour</a:t>
            </a:r>
            <a:r>
              <a:rPr sz="1700" b="0">
                <a:solidFill>
                  <a:srgbClr val="0F172A"/>
                </a:solidFill>
              </a:rPr>
              <a:t> → la case devient rouge.</a:t>
            </a:r>
          </a:p>
          <a:p>
            <a:pPr algn="l">
              <a:lnSpc>
                <a:spcPct val="125000"/>
              </a:lnSpc>
              <a:spcAft>
                <a:spcPts val="1100"/>
              </a:spcAft>
            </a:pPr>
            <a:r>
              <a:rPr sz="1700">
                <a:solidFill>
                  <a:srgbClr val="0F172A"/>
                </a:solidFill>
              </a:rPr>
              <a:t>💙  </a:t>
            </a:r>
            <a:r>
              <a:rPr sz="1700" b="1">
                <a:solidFill>
                  <a:srgbClr val="0F172A"/>
                </a:solidFill>
              </a:rPr>
              <a:t>Vœu</a:t>
            </a:r>
            <a:r>
              <a:rPr sz="1700" b="0">
                <a:solidFill>
                  <a:srgbClr val="0F172A"/>
                </a:solidFill>
              </a:rPr>
              <a:t> : cliquer sur </a:t>
            </a:r>
            <a:r>
              <a:rPr sz="1700" b="1">
                <a:solidFill>
                  <a:srgbClr val="0F172A"/>
                </a:solidFill>
              </a:rPr>
              <a:t>HMN</a:t>
            </a:r>
            <a:r>
              <a:rPr sz="1700" b="0">
                <a:solidFill>
                  <a:srgbClr val="0F172A"/>
                </a:solidFill>
              </a:rPr>
              <a:t> ou </a:t>
            </a:r>
            <a:r>
              <a:rPr sz="1700" b="1">
                <a:solidFill>
                  <a:srgbClr val="0F172A"/>
                </a:solidFill>
              </a:rPr>
              <a:t>ACH</a:t>
            </a:r>
            <a:r>
              <a:rPr sz="1700" b="0">
                <a:solidFill>
                  <a:srgbClr val="0F172A"/>
                </a:solidFill>
              </a:rPr>
              <a:t> → fond bleu + cœur.</a:t>
            </a:r>
          </a:p>
          <a:p>
            <a:pPr algn="l">
              <a:lnSpc>
                <a:spcPct val="125000"/>
              </a:lnSpc>
              <a:spcAft>
                <a:spcPts val="1100"/>
              </a:spcAft>
            </a:pPr>
            <a:r>
              <a:rPr sz="1700">
                <a:solidFill>
                  <a:srgbClr val="0F172A"/>
                </a:solidFill>
              </a:rPr>
              <a:t>🔁  </a:t>
            </a:r>
            <a:r>
              <a:rPr sz="1700" b="1">
                <a:solidFill>
                  <a:srgbClr val="0F172A"/>
                </a:solidFill>
              </a:rPr>
              <a:t>Annuler</a:t>
            </a:r>
            <a:r>
              <a:rPr sz="1700" b="0">
                <a:solidFill>
                  <a:srgbClr val="0F172A"/>
                </a:solidFill>
              </a:rPr>
              <a:t> : re-cliquer au même endroit.</a:t>
            </a:r>
          </a:p>
          <a:p>
            <a:pPr algn="l">
              <a:lnSpc>
                <a:spcPct val="125000"/>
              </a:lnSpc>
              <a:spcAft>
                <a:spcPts val="1100"/>
              </a:spcAft>
            </a:pPr>
            <a:r>
              <a:rPr sz="1700">
                <a:solidFill>
                  <a:srgbClr val="0F172A"/>
                </a:solidFill>
              </a:rPr>
              <a:t>⛔  </a:t>
            </a:r>
            <a:r>
              <a:rPr sz="1700" b="1">
                <a:solidFill>
                  <a:srgbClr val="0F172A"/>
                </a:solidFill>
              </a:rPr>
              <a:t>Exclusifs</a:t>
            </a:r>
            <a:r>
              <a:rPr sz="1700" b="0">
                <a:solidFill>
                  <a:srgbClr val="0F172A"/>
                </a:solidFill>
              </a:rPr>
              <a:t> : un jour est soit indispo, soit vœu — pas les deux.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377440"/>
            <a:ext cx="1554480" cy="12801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36576" bIns="18288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</a:rPr>
              <a:t>12 🚫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0">
                <a:solidFill>
                  <a:srgbClr val="64748B"/>
                </a:solidFill>
              </a:rPr>
              <a:t>HMN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</a:rPr>
              <a:t>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377440"/>
            <a:ext cx="1554480" cy="1280160"/>
          </a:xfrm>
          <a:prstGeom prst="roundRect">
            <a:avLst/>
          </a:prstGeom>
          <a:solidFill>
            <a:srgbClr val="BFDBF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36576" bIns="18288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</a:rPr>
              <a:t>14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1">
                <a:solidFill>
                  <a:srgbClr val="475569"/>
                </a:solidFill>
              </a:rPr>
              <a:t>HMN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</a:rPr>
              <a:t>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23591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00" b="1">
                <a:solidFill>
                  <a:srgbClr val="0F172A"/>
                </a:solidFill>
              </a:rPr>
              <a:t>💙HMN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379476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</a:rPr>
              <a:t>indispo 🚫</a:t>
            </a:r>
            <a:r>
              <a:rPr sz="1200" b="1">
                <a:solidFill>
                  <a:srgbClr val="0F172A"/>
                </a:solidFill>
              </a:rPr>
              <a:t>      vœu 💙 sur HMN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</a:rPr>
              <a:t>SUBTILITÉ IMPORTANTE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000" b="1">
                <a:solidFill>
                  <a:srgbClr val="0F172A"/>
                </a:solidFill>
              </a:rPr>
              <a:t>Mono-site vs double-site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5212080" cy="384048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</a:rPr>
              <a:t>🅜  Médecin mono-site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47548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0F172A"/>
                </a:solidFill>
              </a:rPr>
              <a:t>•  </a:t>
            </a:r>
            <a:r>
              <a:rPr sz="1600" b="0">
                <a:solidFill>
                  <a:srgbClr val="0F172A"/>
                </a:solidFill>
              </a:rPr>
              <a:t>Un </a:t>
            </a:r>
            <a:r>
              <a:rPr sz="1600" b="1">
                <a:solidFill>
                  <a:srgbClr val="0F172A"/>
                </a:solidFill>
              </a:rPr>
              <a:t>seul site</a:t>
            </a:r>
            <a:r>
              <a:rPr sz="1600" b="0">
                <a:solidFill>
                  <a:srgbClr val="0F172A"/>
                </a:solidFill>
              </a:rPr>
              <a:t> pratiqué (HMN ou ACH).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0F172A"/>
                </a:solidFill>
              </a:rPr>
              <a:t>•  </a:t>
            </a:r>
            <a:r>
              <a:rPr sz="1600" b="0">
                <a:solidFill>
                  <a:srgbClr val="0F172A"/>
                </a:solidFill>
              </a:rPr>
              <a:t>L'application n'affiche que </a:t>
            </a:r>
            <a:r>
              <a:rPr sz="1600" b="1">
                <a:solidFill>
                  <a:srgbClr val="0F172A"/>
                </a:solidFill>
              </a:rPr>
              <a:t>la ligne de garde concernée</a:t>
            </a:r>
            <a:r>
              <a:rPr sz="1600" b="0">
                <a:solidFill>
                  <a:srgbClr val="0F172A"/>
                </a:solidFill>
              </a:rPr>
              <a:t> — objectifs, consignes et calendrier adaptés au site.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0F172A"/>
                </a:solidFill>
              </a:rPr>
              <a:t>💙  </a:t>
            </a:r>
            <a:r>
              <a:rPr sz="1600" b="0">
                <a:solidFill>
                  <a:srgbClr val="0F172A"/>
                </a:solidFill>
              </a:rPr>
              <a:t>Un vœu = un clic sur son site. Simple.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212080" cy="3840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24028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</a:rPr>
              <a:t>🅓  Médecin double-site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880360"/>
            <a:ext cx="47548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0F172A"/>
                </a:solidFill>
              </a:rPr>
              <a:t>•  </a:t>
            </a:r>
            <a:r>
              <a:rPr sz="1600" b="1">
                <a:solidFill>
                  <a:srgbClr val="0F172A"/>
                </a:solidFill>
              </a:rPr>
              <a:t>HMN et ACH</a:t>
            </a:r>
            <a:r>
              <a:rPr sz="1600" b="0">
                <a:solidFill>
                  <a:srgbClr val="0F172A"/>
                </a:solidFill>
              </a:rPr>
              <a:t> pratiqués : les deux lignes s'affichent.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0F172A"/>
                </a:solidFill>
              </a:rPr>
              <a:t>💙  </a:t>
            </a:r>
            <a:r>
              <a:rPr sz="1600" b="0">
                <a:solidFill>
                  <a:srgbClr val="0F172A"/>
                </a:solidFill>
              </a:rPr>
              <a:t>Un vœu peut porter sur </a:t>
            </a:r>
            <a:r>
              <a:rPr sz="1600" b="1">
                <a:solidFill>
                  <a:srgbClr val="0F172A"/>
                </a:solidFill>
              </a:rPr>
              <a:t>HMN</a:t>
            </a:r>
            <a:r>
              <a:rPr sz="1600" b="0">
                <a:solidFill>
                  <a:srgbClr val="0F172A"/>
                </a:solidFill>
              </a:rPr>
              <a:t>, sur </a:t>
            </a:r>
            <a:r>
              <a:rPr sz="1600" b="1">
                <a:solidFill>
                  <a:srgbClr val="0F172A"/>
                </a:solidFill>
              </a:rPr>
              <a:t>ACH</a:t>
            </a:r>
            <a:r>
              <a:rPr sz="1600" b="0">
                <a:solidFill>
                  <a:srgbClr val="0F172A"/>
                </a:solidFill>
              </a:rPr>
              <a:t>, ou sur </a:t>
            </a:r>
            <a:r>
              <a:rPr sz="1600" b="1">
                <a:solidFill>
                  <a:srgbClr val="0F172A"/>
                </a:solidFill>
              </a:rPr>
              <a:t>les deux</a:t>
            </a:r>
            <a:r>
              <a:rPr sz="1600" b="0">
                <a:solidFill>
                  <a:srgbClr val="0F172A"/>
                </a:solidFill>
              </a:rPr>
              <a:t> le même jour.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0F172A"/>
                </a:solidFill>
              </a:rPr>
              <a:t>①  </a:t>
            </a:r>
            <a:r>
              <a:rPr sz="1600" b="0">
                <a:solidFill>
                  <a:srgbClr val="0F172A"/>
                </a:solidFill>
              </a:rPr>
              <a:t>Un vœu </a:t>
            </a:r>
            <a:r>
              <a:rPr sz="1600" b="1">
                <a:solidFill>
                  <a:srgbClr val="0F172A"/>
                </a:solidFill>
              </a:rPr>
              <a:t>HMN + ACH le même jour = 1 seul vœu</a:t>
            </a:r>
            <a:r>
              <a:rPr sz="1600" b="0">
                <a:solidFill>
                  <a:srgbClr val="0F172A"/>
                </a:solidFill>
              </a:rPr>
              <a:t> (« les deux »), pas deux.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</a:rPr>
              <a:t>ÉTAPE 3 · SUIVRE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000" b="1">
                <a:solidFill>
                  <a:srgbClr val="0F172A"/>
                </a:solidFill>
              </a:rPr>
              <a:t>Le Planning est en lecture seule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1078992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E3A8A"/>
                </a:solidFill>
              </a:rPr>
              <a:t>👁 Lecture seule — seul l'admin modifie le planning. Tu vois les changements en temps réel ; tu peux toujours ajuster tes indispos &amp; vœux dans l'onglet </a:t>
            </a:r>
            <a:r>
              <a:rPr sz="1500" b="1">
                <a:solidFill>
                  <a:srgbClr val="1E3A8A"/>
                </a:solidFill>
              </a:rPr>
              <a:t>Perso</a:t>
            </a:r>
            <a:r>
              <a:rPr sz="1500" b="0">
                <a:solidFill>
                  <a:srgbClr val="1E3A8A"/>
                </a:solidFill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</a:rPr>
              <a:t>↑ texte exact affiché dans l'application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</a:rPr>
              <a:t>👀  </a:t>
            </a:r>
            <a:r>
              <a:rPr sz="1800" b="0">
                <a:solidFill>
                  <a:srgbClr val="0F172A"/>
                </a:solidFill>
              </a:rPr>
              <a:t>Le planning se </a:t>
            </a:r>
            <a:r>
              <a:rPr sz="1800" b="1">
                <a:solidFill>
                  <a:srgbClr val="0F172A"/>
                </a:solidFill>
              </a:rPr>
              <a:t>consulte</a:t>
            </a:r>
            <a:r>
              <a:rPr sz="1800" b="0">
                <a:solidFill>
                  <a:srgbClr val="0F172A"/>
                </a:solidFill>
              </a:rPr>
              <a:t> sans possibilité de le modifier.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</a:rPr>
              <a:t>⚡  </a:t>
            </a:r>
            <a:r>
              <a:rPr sz="1800" b="0">
                <a:solidFill>
                  <a:srgbClr val="0F172A"/>
                </a:solidFill>
              </a:rPr>
              <a:t>Chaque garde posée par l'admin </a:t>
            </a:r>
            <a:r>
              <a:rPr sz="1800" b="1">
                <a:solidFill>
                  <a:srgbClr val="0F172A"/>
                </a:solidFill>
              </a:rPr>
              <a:t>apparaît instantanément</a:t>
            </a:r>
            <a:r>
              <a:rPr sz="1800" b="0">
                <a:solidFill>
                  <a:srgbClr val="0F172A"/>
                </a:solidFill>
              </a:rPr>
              <a:t>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</a:rPr>
              <a:t>✍️  </a:t>
            </a:r>
            <a:r>
              <a:rPr sz="1800" b="0">
                <a:solidFill>
                  <a:srgbClr val="0F172A"/>
                </a:solidFill>
              </a:rPr>
              <a:t>Seul l'onglet </a:t>
            </a:r>
            <a:r>
              <a:rPr sz="1800" b="1">
                <a:solidFill>
                  <a:srgbClr val="0F172A"/>
                </a:solidFill>
              </a:rPr>
              <a:t>Perso</a:t>
            </a:r>
            <a:r>
              <a:rPr sz="1800" b="0">
                <a:solidFill>
                  <a:srgbClr val="0F172A"/>
                </a:solidFill>
              </a:rPr>
              <a:t> reste modifiable (indispos &amp; vœux), à tout moment.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</a:rPr>
              <a:t>AFFICHAGE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000" b="1">
                <a:solidFill>
                  <a:srgbClr val="0F172A"/>
                </a:solidFill>
              </a:rPr>
              <a:t>Quand c'est une autre personne qui choisit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6126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0">
                <a:solidFill>
                  <a:srgbClr val="64748B"/>
                </a:solidFill>
              </a:rPr>
              <a:t>L'onglet </a:t>
            </a:r>
            <a:r>
              <a:rPr sz="1700" b="1">
                <a:solidFill>
                  <a:srgbClr val="64748B"/>
                </a:solidFill>
              </a:rPr>
              <a:t>Planning</a:t>
            </a:r>
            <a:r>
              <a:rPr sz="1700" b="0">
                <a:solidFill>
                  <a:srgbClr val="64748B"/>
                </a:solidFill>
              </a:rPr>
              <a:t> est affiché </a:t>
            </a:r>
            <a:r>
              <a:rPr sz="1700" b="1">
                <a:solidFill>
                  <a:srgbClr val="64748B"/>
                </a:solidFill>
              </a:rPr>
              <a:t>du point de vue de la personne dont c'est le tour</a:t>
            </a:r>
            <a:r>
              <a:rPr sz="1700" b="0">
                <a:solidFill>
                  <a:srgbClr val="64748B"/>
                </a:solidFill>
              </a:rPr>
              <a:t>, pour l'aider à choisir.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6309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</a:rPr>
              <a:t>🟩  </a:t>
            </a:r>
            <a:r>
              <a:rPr sz="1500" b="1">
                <a:solidFill>
                  <a:srgbClr val="0F172A"/>
                </a:solidFill>
              </a:rPr>
              <a:t>Vert</a:t>
            </a:r>
            <a:r>
              <a:rPr sz="1500" b="0">
                <a:solidFill>
                  <a:srgbClr val="0F172A"/>
                </a:solidFill>
              </a:rPr>
              <a:t> = les gardes de la </a:t>
            </a:r>
            <a:r>
              <a:rPr sz="1500" b="1">
                <a:solidFill>
                  <a:srgbClr val="0F172A"/>
                </a:solidFill>
              </a:rPr>
              <a:t>personne en train de choisir</a:t>
            </a:r>
            <a:r>
              <a:rPr sz="1500" b="0">
                <a:solidFill>
                  <a:srgbClr val="0F172A"/>
                </a:solidFill>
              </a:rPr>
              <a:t> — pas les siennes.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</a:rPr>
              <a:t>⬜  </a:t>
            </a:r>
            <a:r>
              <a:rPr sz="1500" b="1">
                <a:solidFill>
                  <a:srgbClr val="0F172A"/>
                </a:solidFill>
              </a:rPr>
              <a:t>Gris foncé</a:t>
            </a:r>
            <a:r>
              <a:rPr sz="1500" b="0">
                <a:solidFill>
                  <a:srgbClr val="0F172A"/>
                </a:solidFill>
              </a:rPr>
              <a:t> = jour </a:t>
            </a:r>
            <a:r>
              <a:rPr sz="1500" b="1">
                <a:solidFill>
                  <a:srgbClr val="0F172A"/>
                </a:solidFill>
              </a:rPr>
              <a:t>complet</a:t>
            </a:r>
            <a:r>
              <a:rPr sz="1500" b="0">
                <a:solidFill>
                  <a:srgbClr val="0F172A"/>
                </a:solidFill>
              </a:rPr>
              <a:t> (deux sites pris).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</a:rPr>
              <a:t>🔵  </a:t>
            </a:r>
            <a:r>
              <a:rPr sz="1500" b="1">
                <a:solidFill>
                  <a:srgbClr val="0F172A"/>
                </a:solidFill>
              </a:rPr>
              <a:t>Liseré bleu</a:t>
            </a:r>
            <a:r>
              <a:rPr sz="1500" b="0">
                <a:solidFill>
                  <a:srgbClr val="0F172A"/>
                </a:solidFill>
              </a:rPr>
              <a:t> = date encore </a:t>
            </a:r>
            <a:r>
              <a:rPr sz="1500" b="1">
                <a:solidFill>
                  <a:srgbClr val="0F172A"/>
                </a:solidFill>
              </a:rPr>
              <a:t>choisissable</a:t>
            </a:r>
            <a:r>
              <a:rPr sz="1500" b="0">
                <a:solidFill>
                  <a:srgbClr val="0F172A"/>
                </a:solidFill>
              </a:rPr>
              <a:t> par cette personne.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</a:rPr>
              <a:t>🙈  </a:t>
            </a:r>
            <a:r>
              <a:rPr sz="1500" b="0">
                <a:solidFill>
                  <a:srgbClr val="0F172A"/>
                </a:solidFill>
              </a:rPr>
              <a:t>Les vœux / indispos ne sont visibles que par la personne concernée.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57800"/>
            <a:ext cx="6309360" cy="914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66534"/>
                </a:solidFill>
              </a:rPr>
              <a:t>💡 Pour suivre </a:t>
            </a:r>
            <a:r>
              <a:rPr sz="1400" b="1">
                <a:solidFill>
                  <a:srgbClr val="166534"/>
                </a:solidFill>
              </a:rPr>
              <a:t>ses propres gardes</a:t>
            </a:r>
            <a:r>
              <a:rPr sz="1400" b="0">
                <a:solidFill>
                  <a:srgbClr val="166534"/>
                </a:solidFill>
              </a:rPr>
              <a:t>, ouvrir l'onglet </a:t>
            </a:r>
            <a:r>
              <a:rPr sz="1400" b="1">
                <a:solidFill>
                  <a:srgbClr val="166534"/>
                </a:solidFill>
              </a:rPr>
              <a:t>Perso</a:t>
            </a:r>
            <a:r>
              <a:rPr sz="1400" b="0">
                <a:solidFill>
                  <a:srgbClr val="166534"/>
                </a:solidFill>
              </a:rPr>
              <a:t> : le calendrier y reste centré sur soi.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377440"/>
            <a:ext cx="914400" cy="105156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36576" bIns="18288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</a:rPr>
              <a:t>3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1">
                <a:solidFill>
                  <a:srgbClr val="166534"/>
                </a:solidFill>
              </a:rPr>
              <a:t>HMN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</a:rPr>
              <a:t>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2377440"/>
            <a:ext cx="914400" cy="1051560"/>
          </a:xfrm>
          <a:prstGeom prst="roundRect">
            <a:avLst/>
          </a:prstGeom>
          <a:solidFill>
            <a:srgbClr val="DDE3E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36576" bIns="18288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</a:rPr>
              <a:t>4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1">
                <a:solidFill>
                  <a:srgbClr val="475569"/>
                </a:solidFill>
              </a:rPr>
              <a:t>HMN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</a:rPr>
              <a:t>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19" y="2377440"/>
            <a:ext cx="914400" cy="105156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36576" bIns="18288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</a:rPr>
              <a:t>5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1">
                <a:solidFill>
                  <a:srgbClr val="1D4ED8"/>
                </a:solidFill>
              </a:rPr>
              <a:t>HMN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1D4ED8"/>
                </a:solidFill>
              </a:rPr>
              <a:t>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78440" y="2377440"/>
            <a:ext cx="9144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36576" bIns="18288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</a:rPr>
              <a:t>6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0">
                <a:solidFill>
                  <a:srgbClr val="64748B"/>
                </a:solidFill>
              </a:rPr>
              <a:t>HMN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</a:rPr>
              <a:t>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9" y="3566160"/>
            <a:ext cx="4114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</a:rPr>
              <a:t>Vert = garde de la personne qui choisit · jour complet · date choisissable · jour libre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</a:rPr>
              <a:t>AFFICHAGE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000" b="1">
                <a:solidFill>
                  <a:srgbClr val="0F172A"/>
                </a:solidFill>
              </a:rPr>
              <a:t>Quand c'est à son tour de choisir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6400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500">
                <a:solidFill>
                  <a:srgbClr val="0F172A"/>
                </a:solidFill>
              </a:rPr>
              <a:t>🔔  </a:t>
            </a:r>
            <a:r>
              <a:rPr sz="1500" b="0">
                <a:solidFill>
                  <a:srgbClr val="0F172A"/>
                </a:solidFill>
              </a:rPr>
              <a:t>Une </a:t>
            </a:r>
            <a:r>
              <a:rPr sz="1500" b="1">
                <a:solidFill>
                  <a:srgbClr val="0F172A"/>
                </a:solidFill>
              </a:rPr>
              <a:t>notification</a:t>
            </a:r>
            <a:r>
              <a:rPr sz="1500" b="0">
                <a:solidFill>
                  <a:srgbClr val="0F172A"/>
                </a:solidFill>
              </a:rPr>
              <a:t> « C'est à toi de choisir ! » apparaît, quel que soit l'onglet.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500">
                <a:solidFill>
                  <a:srgbClr val="0F172A"/>
                </a:solidFill>
              </a:rPr>
              <a:t>💙  </a:t>
            </a:r>
            <a:r>
              <a:rPr sz="1500" b="0">
                <a:solidFill>
                  <a:srgbClr val="0F172A"/>
                </a:solidFill>
              </a:rPr>
              <a:t>Sur </a:t>
            </a:r>
            <a:r>
              <a:rPr sz="1500" b="1">
                <a:solidFill>
                  <a:srgbClr val="0F172A"/>
                </a:solidFill>
              </a:rPr>
              <a:t>son propre écran</a:t>
            </a:r>
            <a:r>
              <a:rPr sz="1500" b="0">
                <a:solidFill>
                  <a:srgbClr val="0F172A"/>
                </a:solidFill>
              </a:rPr>
              <a:t> (connecté à son compte), </a:t>
            </a:r>
            <a:r>
              <a:rPr sz="1500" b="1">
                <a:solidFill>
                  <a:srgbClr val="0F172A"/>
                </a:solidFill>
              </a:rPr>
              <a:t>ses vœux</a:t>
            </a:r>
            <a:r>
              <a:rPr sz="1500" b="0">
                <a:solidFill>
                  <a:srgbClr val="0F172A"/>
                </a:solidFill>
              </a:rPr>
              <a:t> (bleu) et </a:t>
            </a:r>
            <a:r>
              <a:rPr sz="1500" b="1">
                <a:solidFill>
                  <a:srgbClr val="0F172A"/>
                </a:solidFill>
              </a:rPr>
              <a:t>ses indispos</a:t>
            </a:r>
            <a:r>
              <a:rPr sz="1500" b="0">
                <a:solidFill>
                  <a:srgbClr val="0F172A"/>
                </a:solidFill>
              </a:rPr>
              <a:t> (rouge 🚫) s'affichent pour repérer les bons jours.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500">
                <a:solidFill>
                  <a:srgbClr val="0F172A"/>
                </a:solidFill>
              </a:rPr>
              <a:t>👁  </a:t>
            </a:r>
            <a:r>
              <a:rPr sz="1500" b="1">
                <a:solidFill>
                  <a:srgbClr val="0F172A"/>
                </a:solidFill>
              </a:rPr>
              <a:t>Sur l'écran partagé de l'admin</a:t>
            </a:r>
            <a:r>
              <a:rPr sz="1500" b="0">
                <a:solidFill>
                  <a:srgbClr val="0F172A"/>
                </a:solidFill>
              </a:rPr>
              <a:t> (vue admin), ces vœux/indispos </a:t>
            </a:r>
            <a:r>
              <a:rPr sz="1500" b="1">
                <a:solidFill>
                  <a:srgbClr val="0F172A"/>
                </a:solidFill>
              </a:rPr>
              <a:t>ne sont pas visibles</a:t>
            </a:r>
            <a:r>
              <a:rPr sz="1500" b="0">
                <a:solidFill>
                  <a:srgbClr val="0F172A"/>
                </a:solidFill>
              </a:rPr>
              <a:t> — seules les gardes et les dates choisissables le sont.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500">
                <a:solidFill>
                  <a:srgbClr val="0F172A"/>
                </a:solidFill>
              </a:rPr>
              <a:t>🧑‍⚕️  </a:t>
            </a:r>
            <a:r>
              <a:rPr sz="1500" b="0">
                <a:solidFill>
                  <a:srgbClr val="0F172A"/>
                </a:solidFill>
              </a:rPr>
              <a:t>👉 </a:t>
            </a:r>
            <a:r>
              <a:rPr sz="1500" b="1">
                <a:solidFill>
                  <a:srgbClr val="0F172A"/>
                </a:solidFill>
              </a:rPr>
              <a:t>C'est l'admin qui pose la garde</a:t>
            </a:r>
            <a:r>
              <a:rPr sz="1500" b="0">
                <a:solidFill>
                  <a:srgbClr val="0F172A"/>
                </a:solidFill>
              </a:rPr>
              <a:t> — il suffit de lui communiquer le choix.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074920"/>
            <a:ext cx="6400800" cy="1234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E3A8A"/>
                </a:solidFill>
              </a:rPr>
              <a:t>En pratique : l'admin </a:t>
            </a:r>
            <a:r>
              <a:rPr sz="1400" b="1">
                <a:solidFill>
                  <a:srgbClr val="1E3A8A"/>
                </a:solidFill>
              </a:rPr>
              <a:t>partage son écran (Zoom)</a:t>
            </a:r>
            <a:r>
              <a:rPr sz="1400" b="0">
                <a:solidFill>
                  <a:srgbClr val="1E3A8A"/>
                </a:solidFill>
              </a:rPr>
              <a:t> pour tout le monde ; chacun peut en parallèle </a:t>
            </a:r>
            <a:r>
              <a:rPr sz="1400" b="1">
                <a:solidFill>
                  <a:srgbClr val="1E3A8A"/>
                </a:solidFill>
              </a:rPr>
              <a:t>se connecter avec son compte</a:t>
            </a:r>
            <a:r>
              <a:rPr sz="1400" b="0">
                <a:solidFill>
                  <a:srgbClr val="1E3A8A"/>
                </a:solidFill>
              </a:rPr>
              <a:t> pour mieux voir ses propres gardes, vœux et indispos.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377440"/>
            <a:ext cx="34747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251460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400" b="0">
                <a:solidFill>
                  <a:srgbClr val="0F172A"/>
                </a:solidFill>
              </a:rPr>
              <a:t>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2004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</a:rPr>
              <a:t>C'est à toi de choisir 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6576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</a:rPr>
              <a:t>Tour 2 — à choisir : 1 semaine, 1 WE/férié.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206240"/>
            <a:ext cx="1371600" cy="4114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Voir le planning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4206240"/>
            <a:ext cx="9144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</a:rPr>
              <a:t>OK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</a:rPr>
              <a:t>AIDE-MÉMOIRE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000" b="1">
                <a:solidFill>
                  <a:srgbClr val="0F172A"/>
                </a:solidFill>
              </a:rPr>
              <a:t>La légende des couleurs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57400"/>
            <a:ext cx="640080" cy="4572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19" y="2029968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</a:rPr>
              <a:t>Garde attribuée  (du choisisseur sur Planning, de soi sur Perso)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640080" cy="457200"/>
          </a:xfrm>
          <a:prstGeom prst="roundRect">
            <a:avLst/>
          </a:prstGeom>
          <a:solidFill>
            <a:srgbClr val="BFDBF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19" y="2715768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</a:rPr>
              <a:t>Vœu 💙  (visible à son tour)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640080" cy="4572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19" y="3401568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</a:rPr>
              <a:t>Indispo 🚫  (visible à son tour)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14800"/>
            <a:ext cx="64008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19" y="4087368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</a:rPr>
              <a:t>Date choisissable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57400"/>
            <a:ext cx="640080" cy="457200"/>
          </a:xfrm>
          <a:prstGeom prst="roundRect">
            <a:avLst/>
          </a:prstGeom>
          <a:solidFill>
            <a:srgbClr val="DDE3E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29968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</a:rPr>
              <a:t>Jour complet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743200"/>
            <a:ext cx="64008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715768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</a:rPr>
              <a:t>Week-end / férié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29000"/>
            <a:ext cx="64008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3401568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</a:rPr>
              <a:t>Vendredi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114800"/>
            <a:ext cx="6400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4087368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</a:rPr>
              <a:t>Jour de semaine libre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74920"/>
            <a:ext cx="10789920" cy="914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66534"/>
                </a:solidFill>
              </a:rPr>
              <a:t>Une </a:t>
            </a:r>
            <a:r>
              <a:rPr sz="1500" b="1">
                <a:solidFill>
                  <a:srgbClr val="166534"/>
                </a:solidFill>
              </a:rPr>
              <a:t>garde attribuée (vert)</a:t>
            </a:r>
            <a:r>
              <a:rPr sz="1500" b="0">
                <a:solidFill>
                  <a:srgbClr val="166534"/>
                </a:solidFill>
              </a:rPr>
              <a:t> prime toujours : si un vœu tombe sur ce jour, la case reste verte.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</a:rPr>
              <a:t>C'EST TOUT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</a:rPr>
              <a:t>En résumé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2000">
                <a:solidFill>
                  <a:srgbClr val="0F172A"/>
                </a:solidFill>
              </a:rPr>
              <a:t>①  </a:t>
            </a:r>
            <a:r>
              <a:rPr sz="2000" b="1">
                <a:solidFill>
                  <a:srgbClr val="0F172A"/>
                </a:solidFill>
              </a:rPr>
              <a:t>Créer son compte</a:t>
            </a:r>
            <a:r>
              <a:rPr sz="2000" b="0">
                <a:solidFill>
                  <a:srgbClr val="0F172A"/>
                </a:solidFill>
              </a:rPr>
              <a:t> et s'associer à son nom.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2000">
                <a:solidFill>
                  <a:srgbClr val="0F172A"/>
                </a:solidFill>
              </a:rPr>
              <a:t>②  </a:t>
            </a:r>
            <a:r>
              <a:rPr sz="2000" b="1">
                <a:solidFill>
                  <a:srgbClr val="0F172A"/>
                </a:solidFill>
              </a:rPr>
              <a:t>Onglet Perso</a:t>
            </a:r>
            <a:r>
              <a:rPr sz="2000" b="0">
                <a:solidFill>
                  <a:srgbClr val="0F172A"/>
                </a:solidFill>
              </a:rPr>
              <a:t> : poser ses indispos 🚫 et ses vœux 💙 (mono ou double-site).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2000">
                <a:solidFill>
                  <a:srgbClr val="0F172A"/>
                </a:solidFill>
              </a:rPr>
              <a:t>③  </a:t>
            </a:r>
            <a:r>
              <a:rPr sz="2000" b="1">
                <a:solidFill>
                  <a:srgbClr val="0F172A"/>
                </a:solidFill>
              </a:rPr>
              <a:t>Onglet Planning</a:t>
            </a:r>
            <a:r>
              <a:rPr sz="2000" b="0">
                <a:solidFill>
                  <a:srgbClr val="0F172A"/>
                </a:solidFill>
              </a:rPr>
              <a:t> : suivre l'attribution en temps réel (lecture seule).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2000">
                <a:solidFill>
                  <a:srgbClr val="0F172A"/>
                </a:solidFill>
              </a:rPr>
              <a:t>④  </a:t>
            </a:r>
            <a:r>
              <a:rPr sz="2000" b="1">
                <a:solidFill>
                  <a:srgbClr val="0F172A"/>
                </a:solidFill>
              </a:rPr>
              <a:t>À son tour</a:t>
            </a:r>
            <a:r>
              <a:rPr sz="2000" b="0">
                <a:solidFill>
                  <a:srgbClr val="0F172A"/>
                </a:solidFill>
              </a:rPr>
              <a:t> : une notification prévient, l'admin pose la garde.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120640"/>
            <a:ext cx="10789920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E3A8A"/>
                </a:solidFill>
              </a:rPr>
              <a:t>Une question, un doute sur un vœu ou une indispo ? S'adresser à l'admin — tout se met à jour en direct.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