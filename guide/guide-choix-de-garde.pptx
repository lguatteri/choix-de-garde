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CHOIX DE GARDE — JUIN ▸ 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</a:rPr>
              <a:t>Guide du médecin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</a:rPr>
              <a:t>Créer son compte, déclarer, suivre le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800" b="0">
                <a:solidFill>
                  <a:srgbClr val="64748B"/>
                </a:solidFill>
              </a:rPr>
              <a:t>Ce guide s'adresse aux médecins </a:t>
            </a:r>
            <a:r>
              <a:rPr sz="1800" b="1">
                <a:solidFill>
                  <a:srgbClr val="64748B"/>
                </a:solidFill>
              </a:rPr>
              <a:t>non-admins</a:t>
            </a:r>
            <a:r>
              <a:rPr sz="1800" b="0">
                <a:solidFill>
                  <a:srgbClr val="64748B"/>
                </a:solidFill>
              </a:rPr>
              <a:t> (mode lecteur). En 3 temps : créer son compte, renseigner ses </a:t>
            </a:r>
            <a:r>
              <a:rPr sz="1800" b="1">
                <a:solidFill>
                  <a:srgbClr val="64748B"/>
                </a:solidFill>
              </a:rPr>
              <a:t>indispos 🚫</a:t>
            </a:r>
            <a:r>
              <a:rPr sz="1800" b="0">
                <a:solidFill>
                  <a:srgbClr val="64748B"/>
                </a:solidFill>
              </a:rPr>
              <a:t> et ses </a:t>
            </a:r>
            <a:r>
              <a:rPr sz="1800" b="1">
                <a:solidFill>
                  <a:srgbClr val="64748B"/>
                </a:solidFill>
              </a:rPr>
              <a:t>vœux 💙</a:t>
            </a:r>
            <a:r>
              <a:rPr sz="1800" b="0">
                <a:solidFill>
                  <a:srgbClr val="64748B"/>
                </a:solidFill>
              </a:rPr>
              <a:t>, puis suivre l'attribution des gardes en temps réel.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23360"/>
            <a:ext cx="107899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E3A8A"/>
                </a:solidFill>
              </a:rPr>
              <a:t>👉 Cette version est un point de départ — à adapter librement.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ÉTAPE 1 · COMPTE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Créer son compte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6035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1.  </a:t>
            </a:r>
            <a:r>
              <a:rPr sz="1800" b="0">
                <a:solidFill>
                  <a:srgbClr val="0F172A"/>
                </a:solidFill>
              </a:rPr>
              <a:t>Saisir un </a:t>
            </a:r>
            <a:r>
              <a:rPr sz="1800" b="1">
                <a:solidFill>
                  <a:srgbClr val="0F172A"/>
                </a:solidFill>
              </a:rPr>
              <a:t>email</a:t>
            </a:r>
            <a:r>
              <a:rPr sz="1800" b="0">
                <a:solidFill>
                  <a:srgbClr val="0F172A"/>
                </a:solidFill>
              </a:rPr>
              <a:t> et un </a:t>
            </a:r>
            <a:r>
              <a:rPr sz="1800" b="1">
                <a:solidFill>
                  <a:srgbClr val="0F172A"/>
                </a:solidFill>
              </a:rPr>
              <a:t>mot de passe</a:t>
            </a:r>
            <a:r>
              <a:rPr sz="1800" b="0">
                <a:solidFill>
                  <a:srgbClr val="0F172A"/>
                </a:solidFill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2.  </a:t>
            </a:r>
            <a:r>
              <a:rPr sz="1800" b="0">
                <a:solidFill>
                  <a:srgbClr val="0F172A"/>
                </a:solidFill>
              </a:rPr>
              <a:t>Cliquer sur </a:t>
            </a:r>
            <a:r>
              <a:rPr sz="1800" b="1">
                <a:solidFill>
                  <a:srgbClr val="0F172A"/>
                </a:solidFill>
              </a:rPr>
              <a:t>« Créer un compte »</a:t>
            </a:r>
            <a:r>
              <a:rPr sz="1800" b="0">
                <a:solidFill>
                  <a:srgbClr val="0F172A"/>
                </a:solidFill>
              </a:rPr>
              <a:t> (la première fois seulement).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3.  </a:t>
            </a:r>
            <a:r>
              <a:rPr sz="1800" b="0">
                <a:solidFill>
                  <a:srgbClr val="0F172A"/>
                </a:solidFill>
              </a:rPr>
              <a:t>Les fois suivantes : </a:t>
            </a:r>
            <a:r>
              <a:rPr sz="1800" b="1">
                <a:solidFill>
                  <a:srgbClr val="0F172A"/>
                </a:solidFill>
              </a:rPr>
              <a:t>« Se connecter »</a:t>
            </a:r>
            <a:r>
              <a:rPr sz="1800" b="0">
                <a:solidFill>
                  <a:srgbClr val="0F172A"/>
                </a:solidFill>
              </a:rPr>
              <a:t> avec les mêmes identifiants.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572000"/>
            <a:ext cx="603504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E3A8A"/>
                </a:solidFill>
              </a:rPr>
              <a:t>Un seul compte par personne — le mot de passe est à conserver précieusement.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2011680"/>
            <a:ext cx="3749039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224028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>
                <a:solidFill>
                  <a:srgbClr val="0F172A"/>
                </a:solidFill>
              </a:rPr>
              <a:t>Choix Garde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</a:rPr>
              <a:t>juin – sept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971800"/>
            <a:ext cx="3291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</a:rPr>
              <a:t>Email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291840"/>
            <a:ext cx="3200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749039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</a:rPr>
              <a:t>Mot de passe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4069080"/>
            <a:ext cx="32004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0" y="4572000"/>
            <a:ext cx="155448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Se connecter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4572000"/>
            <a:ext cx="15544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</a:rPr>
              <a:t>Créer un compte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ÉTAPE 1 · IDENTITÉ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Première connexion : choisir son nom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6035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800" b="0">
                <a:solidFill>
                  <a:srgbClr val="64748B"/>
                </a:solidFill>
              </a:rPr>
              <a:t>À la toute première connexion, l'application demande de </a:t>
            </a:r>
            <a:r>
              <a:rPr sz="1800" b="1">
                <a:solidFill>
                  <a:srgbClr val="64748B"/>
                </a:solidFill>
              </a:rPr>
              <a:t>s'associer à son nom</a:t>
            </a:r>
            <a:r>
              <a:rPr sz="1800" b="0">
                <a:solidFill>
                  <a:srgbClr val="64748B"/>
                </a:solidFill>
              </a:rPr>
              <a:t> dans la liste des médecins.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0350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>
                <a:solidFill>
                  <a:srgbClr val="0F172A"/>
                </a:solidFill>
              </a:rPr>
              <a:t>1.  </a:t>
            </a:r>
            <a:r>
              <a:rPr sz="1800" b="0">
                <a:solidFill>
                  <a:srgbClr val="0F172A"/>
                </a:solidFill>
              </a:rPr>
              <a:t>Sélectionner </a:t>
            </a:r>
            <a:r>
              <a:rPr sz="1800" b="1">
                <a:solidFill>
                  <a:srgbClr val="0F172A"/>
                </a:solidFill>
              </a:rPr>
              <a:t>son nom</a:t>
            </a:r>
            <a:r>
              <a:rPr sz="1800" b="0">
                <a:solidFill>
                  <a:srgbClr val="0F172A"/>
                </a:solidFill>
              </a:rPr>
              <a:t> dans le menu déroulant.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>
                <a:solidFill>
                  <a:srgbClr val="0F172A"/>
                </a:solidFill>
              </a:rPr>
              <a:t>2.  </a:t>
            </a:r>
            <a:r>
              <a:rPr sz="1800" b="0">
                <a:solidFill>
                  <a:srgbClr val="0F172A"/>
                </a:solidFill>
              </a:rPr>
              <a:t>Cliquer sur </a:t>
            </a:r>
            <a:r>
              <a:rPr sz="1800" b="1">
                <a:solidFill>
                  <a:srgbClr val="0F172A"/>
                </a:solidFill>
              </a:rPr>
              <a:t>« Valider »</a:t>
            </a:r>
            <a:r>
              <a:rPr sz="1800" b="0">
                <a:solidFill>
                  <a:srgbClr val="0F172A"/>
                </a:solidFill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6035040" cy="10058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92400E"/>
                </a:solidFill>
              </a:rPr>
              <a:t>⚠️ Bien sélectionner </a:t>
            </a:r>
            <a:r>
              <a:rPr sz="1500" b="1">
                <a:solidFill>
                  <a:srgbClr val="92400E"/>
                </a:solidFill>
              </a:rPr>
              <a:t>son propre</a:t>
            </a:r>
            <a:r>
              <a:rPr sz="1500" b="0">
                <a:solidFill>
                  <a:srgbClr val="92400E"/>
                </a:solidFill>
              </a:rPr>
              <a:t> nom : c'est lui qui porte les objectifs, les vœux et les gardes.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03120"/>
            <a:ext cx="35661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09560" y="2286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</a:rPr>
              <a:t>Première connexion — choisis ton nom dans la liste 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3063240"/>
            <a:ext cx="31089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3145536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</a:rPr>
              <a:t>Dr Martin  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703320"/>
            <a:ext cx="310896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Valider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REPÈRES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Deux onglets à disposition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6309360" cy="5486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29968"/>
            <a:ext cx="148132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Planning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12848" y="2029968"/>
            <a:ext cx="1097280" cy="42062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</a:rPr>
              <a:t>Perso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2029968"/>
            <a:ext cx="2505456" cy="42062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B0B8C4"/>
                </a:solidFill>
              </a:rPr>
              <a:t>Réglages ·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98464" y="2029968"/>
            <a:ext cx="1865376" cy="420624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64748B"/>
                </a:solidFill>
              </a:rPr>
              <a:t>Déconnexion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🗓️  </a:t>
            </a:r>
            <a:r>
              <a:rPr sz="1800" b="1">
                <a:solidFill>
                  <a:srgbClr val="0F172A"/>
                </a:solidFill>
              </a:rPr>
              <a:t>Planning</a:t>
            </a:r>
            <a:r>
              <a:rPr sz="1800" b="0">
                <a:solidFill>
                  <a:srgbClr val="0F172A"/>
                </a:solidFill>
              </a:rPr>
              <a:t> — le calendrier des gardes, en </a:t>
            </a:r>
            <a:r>
              <a:rPr sz="1800" b="1">
                <a:solidFill>
                  <a:srgbClr val="0F172A"/>
                </a:solidFill>
              </a:rPr>
              <a:t>lecture seule</a:t>
            </a:r>
            <a:r>
              <a:rPr sz="1800" b="0">
                <a:solidFill>
                  <a:srgbClr val="0F172A"/>
                </a:solidFill>
              </a:rPr>
              <a:t>. Il permet de suivre qui prend quoi, en temps réel.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👤  </a:t>
            </a:r>
            <a:r>
              <a:rPr sz="1800" b="1">
                <a:solidFill>
                  <a:srgbClr val="0F172A"/>
                </a:solidFill>
              </a:rPr>
              <a:t>Perso</a:t>
            </a:r>
            <a:r>
              <a:rPr sz="1800" b="0">
                <a:solidFill>
                  <a:srgbClr val="0F172A"/>
                </a:solidFill>
              </a:rPr>
              <a:t> — l'espace personnel : les objectifs, et l'endroit où déclarer ses </a:t>
            </a:r>
            <a:r>
              <a:rPr sz="1800" b="1">
                <a:solidFill>
                  <a:srgbClr val="0F172A"/>
                </a:solidFill>
              </a:rPr>
              <a:t>indispos 🚫</a:t>
            </a:r>
            <a:r>
              <a:rPr sz="1800" b="0">
                <a:solidFill>
                  <a:srgbClr val="0F172A"/>
                </a:solidFill>
              </a:rPr>
              <a:t> et ses </a:t>
            </a:r>
            <a:r>
              <a:rPr sz="1800" b="1">
                <a:solidFill>
                  <a:srgbClr val="0F172A"/>
                </a:solidFill>
              </a:rPr>
              <a:t>vœux 💙</a:t>
            </a:r>
            <a:r>
              <a:rPr sz="1800" b="0">
                <a:solidFill>
                  <a:srgbClr val="0F172A"/>
                </a:solidFill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🔒  </a:t>
            </a:r>
            <a:r>
              <a:rPr sz="1800" b="1">
                <a:solidFill>
                  <a:srgbClr val="0F172A"/>
                </a:solidFill>
              </a:rPr>
              <a:t>Réglages</a:t>
            </a:r>
            <a:r>
              <a:rPr sz="1800" b="0">
                <a:solidFill>
                  <a:srgbClr val="0F172A"/>
                </a:solidFill>
              </a:rPr>
              <a:t> — réservé à l'admin, il n'apparaît pas côté médecin.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20640"/>
            <a:ext cx="107899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E3A8A"/>
                </a:solidFill>
              </a:rPr>
              <a:t>Le passage de </a:t>
            </a:r>
            <a:r>
              <a:rPr sz="1500" b="1">
                <a:solidFill>
                  <a:srgbClr val="1E3A8A"/>
                </a:solidFill>
              </a:rPr>
              <a:t>Perso</a:t>
            </a:r>
            <a:r>
              <a:rPr sz="1500" b="0">
                <a:solidFill>
                  <a:srgbClr val="1E3A8A"/>
                </a:solidFill>
              </a:rPr>
              <a:t> à </a:t>
            </a:r>
            <a:r>
              <a:rPr sz="1500" b="1">
                <a:solidFill>
                  <a:srgbClr val="1E3A8A"/>
                </a:solidFill>
              </a:rPr>
              <a:t>Planning</a:t>
            </a:r>
            <a:r>
              <a:rPr sz="1500" b="0">
                <a:solidFill>
                  <a:srgbClr val="1E3A8A"/>
                </a:solidFill>
              </a:rPr>
              <a:t> est possible à tout moment : les déclarations sont enregistrées automatiquement.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ÉTAPE 2 · PERSO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L'onglet Perso en un coup d'œil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6126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>
                <a:solidFill>
                  <a:srgbClr val="0F172A"/>
                </a:solidFill>
              </a:rPr>
              <a:t>🎯  </a:t>
            </a:r>
            <a:r>
              <a:rPr sz="1800" b="1">
                <a:solidFill>
                  <a:srgbClr val="0F172A"/>
                </a:solidFill>
              </a:rPr>
              <a:t>Mes objectifs restants</a:t>
            </a:r>
            <a:r>
              <a:rPr sz="1800" b="0">
                <a:solidFill>
                  <a:srgbClr val="0F172A"/>
                </a:solidFill>
              </a:rPr>
              <a:t> — le nombre de gardes restant à obtenir (par site, semaine / WE-férié).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>
                <a:solidFill>
                  <a:srgbClr val="0F172A"/>
                </a:solidFill>
              </a:rPr>
              <a:t>⏭️  </a:t>
            </a:r>
            <a:r>
              <a:rPr sz="1800" b="1">
                <a:solidFill>
                  <a:srgbClr val="0F172A"/>
                </a:solidFill>
              </a:rPr>
              <a:t>À mon prochain tour</a:t>
            </a:r>
            <a:r>
              <a:rPr sz="1800" b="0">
                <a:solidFill>
                  <a:srgbClr val="0F172A"/>
                </a:solidFill>
              </a:rPr>
              <a:t> — un rappel de ce qui pourra être choisi.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>
                <a:solidFill>
                  <a:srgbClr val="0F172A"/>
                </a:solidFill>
              </a:rPr>
              <a:t>🚫  </a:t>
            </a:r>
            <a:r>
              <a:rPr sz="1800" b="1">
                <a:solidFill>
                  <a:srgbClr val="0F172A"/>
                </a:solidFill>
              </a:rPr>
              <a:t>Indispos</a:t>
            </a:r>
            <a:r>
              <a:rPr sz="1800" b="0">
                <a:solidFill>
                  <a:srgbClr val="0F172A"/>
                </a:solidFill>
              </a:rPr>
              <a:t> — les jours d'indisponibilité.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>
                <a:solidFill>
                  <a:srgbClr val="0F172A"/>
                </a:solidFill>
              </a:rPr>
              <a:t>💙  </a:t>
            </a:r>
            <a:r>
              <a:rPr sz="1800" b="1">
                <a:solidFill>
                  <a:srgbClr val="0F172A"/>
                </a:solidFill>
              </a:rPr>
              <a:t>Vœux</a:t>
            </a:r>
            <a:r>
              <a:rPr sz="1800" b="0">
                <a:solidFill>
                  <a:srgbClr val="0F172A"/>
                </a:solidFill>
              </a:rPr>
              <a:t> — les jours / sites souhaités.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937760"/>
            <a:ext cx="6126480" cy="9144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66534"/>
                </a:solidFill>
              </a:rPr>
              <a:t>Plus les indispos et vœux sont à jour, mieux l'attribution correspondra aux préférences de chacun.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194560"/>
            <a:ext cx="4023360" cy="50292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0" y="2194560"/>
            <a:ext cx="4023360" cy="50292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</a:rPr>
              <a:t>Dr Martin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697480"/>
            <a:ext cx="40233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2834640"/>
            <a:ext cx="1920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1">
                <a:solidFill>
                  <a:srgbClr val="64748B"/>
                </a:solidFill>
              </a:rPr>
              <a:t>OBJECTIFS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200" b="0">
                <a:solidFill>
                  <a:srgbClr val="0F172A"/>
                </a:solidFill>
              </a:rPr>
              <a:t>HMN · Sem 7 · WE 4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</a:rPr>
              <a:t>ACH · Sem 5 · WE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880360"/>
            <a:ext cx="1737360" cy="1005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2971800"/>
            <a:ext cx="1554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66534"/>
                </a:solidFill>
              </a:rPr>
              <a:t>Gardes restantes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</a:rPr>
              <a:t>HMN 3 · ACH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ÉTAPE 2 · DÉCLARER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Poser une indispo 🚫 ou un vœu 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61264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</a:rPr>
              <a:t>Clic sur la </a:t>
            </a:r>
            <a:r>
              <a:rPr sz="1400" b="1">
                <a:solidFill>
                  <a:srgbClr val="475569"/>
                </a:solidFill>
              </a:rPr>
              <a:t>date</a:t>
            </a:r>
            <a:r>
              <a:rPr sz="1400" b="0">
                <a:solidFill>
                  <a:srgbClr val="475569"/>
                </a:solidFill>
              </a:rPr>
              <a:t> = 🚫 indispo (re-clic = annuler).  </a:t>
            </a:r>
            <a:r>
              <a:rPr sz="1400" b="0">
                <a:solidFill>
                  <a:srgbClr val="475569"/>
                </a:solidFill>
              </a:rPr>
              <a:t>Clic sur </a:t>
            </a:r>
            <a:r>
              <a:rPr sz="1400" b="1">
                <a:solidFill>
                  <a:srgbClr val="475569"/>
                </a:solidFill>
              </a:rPr>
              <a:t>HMN</a:t>
            </a:r>
            <a:r>
              <a:rPr sz="1400" b="0">
                <a:solidFill>
                  <a:srgbClr val="475569"/>
                </a:solidFill>
              </a:rPr>
              <a:t> ou </a:t>
            </a:r>
            <a:r>
              <a:rPr sz="1400" b="1">
                <a:solidFill>
                  <a:srgbClr val="475569"/>
                </a:solidFill>
              </a:rPr>
              <a:t>ACH</a:t>
            </a:r>
            <a:r>
              <a:rPr sz="1400" b="0">
                <a:solidFill>
                  <a:srgbClr val="475569"/>
                </a:solidFill>
              </a:rPr>
              <a:t> = 💙 vœu sur ce site (re-clic = annuler).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6309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0F172A"/>
                </a:solidFill>
              </a:rPr>
              <a:t>🚫  </a:t>
            </a:r>
            <a:r>
              <a:rPr sz="1700" b="1">
                <a:solidFill>
                  <a:srgbClr val="0F172A"/>
                </a:solidFill>
              </a:rPr>
              <a:t>Indispo</a:t>
            </a:r>
            <a:r>
              <a:rPr sz="1700" b="0">
                <a:solidFill>
                  <a:srgbClr val="0F172A"/>
                </a:solidFill>
              </a:rPr>
              <a:t> : cliquer sur le </a:t>
            </a:r>
            <a:r>
              <a:rPr sz="1700" b="1">
                <a:solidFill>
                  <a:srgbClr val="0F172A"/>
                </a:solidFill>
              </a:rPr>
              <a:t>numéro du jour</a:t>
            </a:r>
            <a:r>
              <a:rPr sz="1700" b="0">
                <a:solidFill>
                  <a:srgbClr val="0F172A"/>
                </a:solidFill>
              </a:rPr>
              <a:t> → la case devient rouge.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0F172A"/>
                </a:solidFill>
              </a:rPr>
              <a:t>💙  </a:t>
            </a:r>
            <a:r>
              <a:rPr sz="1700" b="1">
                <a:solidFill>
                  <a:srgbClr val="0F172A"/>
                </a:solidFill>
              </a:rPr>
              <a:t>Vœu</a:t>
            </a:r>
            <a:r>
              <a:rPr sz="1700" b="0">
                <a:solidFill>
                  <a:srgbClr val="0F172A"/>
                </a:solidFill>
              </a:rPr>
              <a:t> : cliquer sur </a:t>
            </a:r>
            <a:r>
              <a:rPr sz="1700" b="1">
                <a:solidFill>
                  <a:srgbClr val="0F172A"/>
                </a:solidFill>
              </a:rPr>
              <a:t>HMN</a:t>
            </a:r>
            <a:r>
              <a:rPr sz="1700" b="0">
                <a:solidFill>
                  <a:srgbClr val="0F172A"/>
                </a:solidFill>
              </a:rPr>
              <a:t> ou </a:t>
            </a:r>
            <a:r>
              <a:rPr sz="1700" b="1">
                <a:solidFill>
                  <a:srgbClr val="0F172A"/>
                </a:solidFill>
              </a:rPr>
              <a:t>ACH</a:t>
            </a:r>
            <a:r>
              <a:rPr sz="1700" b="0">
                <a:solidFill>
                  <a:srgbClr val="0F172A"/>
                </a:solidFill>
              </a:rPr>
              <a:t> → fond bleu + cœur.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0F172A"/>
                </a:solidFill>
              </a:rPr>
              <a:t>🔁  </a:t>
            </a:r>
            <a:r>
              <a:rPr sz="1700" b="1">
                <a:solidFill>
                  <a:srgbClr val="0F172A"/>
                </a:solidFill>
              </a:rPr>
              <a:t>Annuler</a:t>
            </a:r>
            <a:r>
              <a:rPr sz="1700" b="0">
                <a:solidFill>
                  <a:srgbClr val="0F172A"/>
                </a:solidFill>
              </a:rPr>
              <a:t> : re-cliquer au même endroit.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0F172A"/>
                </a:solidFill>
              </a:rPr>
              <a:t>⛔  </a:t>
            </a:r>
            <a:r>
              <a:rPr sz="1700" b="1">
                <a:solidFill>
                  <a:srgbClr val="0F172A"/>
                </a:solidFill>
              </a:rPr>
              <a:t>Exclusifs</a:t>
            </a:r>
            <a:r>
              <a:rPr sz="1700" b="0">
                <a:solidFill>
                  <a:srgbClr val="0F172A"/>
                </a:solidFill>
              </a:rPr>
              <a:t> : un jour est soit indispo, soit vœu — pas les deux.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2377440"/>
            <a:ext cx="1554480" cy="12801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36576" bIns="1828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12 🚫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64748B"/>
                </a:solidFill>
              </a:rPr>
              <a:t>HMN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</a:rPr>
              <a:t>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0" y="2377440"/>
            <a:ext cx="1554480" cy="1280160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36576" bIns="1828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14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1">
                <a:solidFill>
                  <a:srgbClr val="475569"/>
                </a:solidFill>
              </a:rPr>
              <a:t>HMN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</a:rPr>
              <a:t>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2359152"/>
            <a:ext cx="1554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800" b="1">
                <a:solidFill>
                  <a:srgbClr val="0F172A"/>
                </a:solidFill>
              </a:rPr>
              <a:t>💙HMN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794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</a:rPr>
              <a:t>indispo 🚫</a:t>
            </a:r>
            <a:r>
              <a:rPr sz="1200" b="1">
                <a:solidFill>
                  <a:srgbClr val="0F172A"/>
                </a:solidFill>
              </a:rPr>
              <a:t>      vœu 💙 sur HMN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SUBTILITÉ IMPORTANTE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Mono-site vs double-site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5212080" cy="3840480"/>
          </a:xfrm>
          <a:prstGeom prst="roundRect">
            <a:avLst/>
          </a:prstGeom>
          <a:solidFill>
            <a:srgbClr val="FAF5FF"/>
          </a:solidFill>
          <a:ln w="1270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</a:rPr>
              <a:t>🅜  Médecin mono-site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47548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</a:rPr>
              <a:t>•  </a:t>
            </a:r>
            <a:r>
              <a:rPr sz="1600" b="0">
                <a:solidFill>
                  <a:srgbClr val="0F172A"/>
                </a:solidFill>
              </a:rPr>
              <a:t>Un </a:t>
            </a:r>
            <a:r>
              <a:rPr sz="1600" b="1">
                <a:solidFill>
                  <a:srgbClr val="0F172A"/>
                </a:solidFill>
              </a:rPr>
              <a:t>seul site</a:t>
            </a:r>
            <a:r>
              <a:rPr sz="1600" b="0">
                <a:solidFill>
                  <a:srgbClr val="0F172A"/>
                </a:solidFill>
              </a:rPr>
              <a:t> pratiqué (HMN ou ACH).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</a:rPr>
              <a:t>•  </a:t>
            </a:r>
            <a:r>
              <a:rPr sz="1600" b="0">
                <a:solidFill>
                  <a:srgbClr val="0F172A"/>
                </a:solidFill>
              </a:rPr>
              <a:t>L'application n'affiche que </a:t>
            </a:r>
            <a:r>
              <a:rPr sz="1600" b="1">
                <a:solidFill>
                  <a:srgbClr val="0F172A"/>
                </a:solidFill>
              </a:rPr>
              <a:t>la ligne de garde concernée</a:t>
            </a:r>
            <a:r>
              <a:rPr sz="1600" b="0">
                <a:solidFill>
                  <a:srgbClr val="0F172A"/>
                </a:solidFill>
              </a:rPr>
              <a:t> — objectifs, consignes et calendrier adaptés au site.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</a:rPr>
              <a:t>💙  </a:t>
            </a:r>
            <a:r>
              <a:rPr sz="1600" b="0">
                <a:solidFill>
                  <a:srgbClr val="0F172A"/>
                </a:solidFill>
              </a:rPr>
              <a:t>Un vœu = un clic sur son site. Simple.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240280"/>
            <a:ext cx="4663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</a:rPr>
              <a:t>🅓  Médecin double-site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880360"/>
            <a:ext cx="47548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</a:rPr>
              <a:t>•  </a:t>
            </a:r>
            <a:r>
              <a:rPr sz="1600" b="1">
                <a:solidFill>
                  <a:srgbClr val="0F172A"/>
                </a:solidFill>
              </a:rPr>
              <a:t>HMN et ACH</a:t>
            </a:r>
            <a:r>
              <a:rPr sz="1600" b="0">
                <a:solidFill>
                  <a:srgbClr val="0F172A"/>
                </a:solidFill>
              </a:rPr>
              <a:t> pratiqués : les deux lignes s'affichent.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</a:rPr>
              <a:t>💙  </a:t>
            </a:r>
            <a:r>
              <a:rPr sz="1600" b="0">
                <a:solidFill>
                  <a:srgbClr val="0F172A"/>
                </a:solidFill>
              </a:rPr>
              <a:t>Un vœu peut porter sur </a:t>
            </a:r>
            <a:r>
              <a:rPr sz="1600" b="1">
                <a:solidFill>
                  <a:srgbClr val="0F172A"/>
                </a:solidFill>
              </a:rPr>
              <a:t>HMN</a:t>
            </a:r>
            <a:r>
              <a:rPr sz="1600" b="0">
                <a:solidFill>
                  <a:srgbClr val="0F172A"/>
                </a:solidFill>
              </a:rPr>
              <a:t>, sur </a:t>
            </a:r>
            <a:r>
              <a:rPr sz="1600" b="1">
                <a:solidFill>
                  <a:srgbClr val="0F172A"/>
                </a:solidFill>
              </a:rPr>
              <a:t>ACH</a:t>
            </a:r>
            <a:r>
              <a:rPr sz="1600" b="0">
                <a:solidFill>
                  <a:srgbClr val="0F172A"/>
                </a:solidFill>
              </a:rPr>
              <a:t>, ou sur </a:t>
            </a:r>
            <a:r>
              <a:rPr sz="1600" b="1">
                <a:solidFill>
                  <a:srgbClr val="0F172A"/>
                </a:solidFill>
              </a:rPr>
              <a:t>les deux</a:t>
            </a:r>
            <a:r>
              <a:rPr sz="1600" b="0">
                <a:solidFill>
                  <a:srgbClr val="0F172A"/>
                </a:solidFill>
              </a:rPr>
              <a:t> le même jour.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</a:rPr>
              <a:t>①  </a:t>
            </a:r>
            <a:r>
              <a:rPr sz="1600" b="0">
                <a:solidFill>
                  <a:srgbClr val="0F172A"/>
                </a:solidFill>
              </a:rPr>
              <a:t>Un vœu </a:t>
            </a:r>
            <a:r>
              <a:rPr sz="1600" b="1">
                <a:solidFill>
                  <a:srgbClr val="0F172A"/>
                </a:solidFill>
              </a:rPr>
              <a:t>HMN + ACH le même jour = 1 seul vœu</a:t>
            </a:r>
            <a:r>
              <a:rPr sz="1600" b="0">
                <a:solidFill>
                  <a:srgbClr val="0F172A"/>
                </a:solidFill>
              </a:rPr>
              <a:t> (« les deux »), pas deux.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ÉTAPE 3 · SUIVRE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Le Planning est en lecture seule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78992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E3A8A"/>
                </a:solidFill>
              </a:rPr>
              <a:t>👁 Lecture seule — seul l'admin modifie le planning. Tu vois les changements en temps réel ; tu peux toujours ajuster tes indispos &amp; vœux dans l'onglet </a:t>
            </a:r>
            <a:r>
              <a:rPr sz="1500" b="1">
                <a:solidFill>
                  <a:srgbClr val="1E3A8A"/>
                </a:solidFill>
              </a:rPr>
              <a:t>Perso</a:t>
            </a:r>
            <a:r>
              <a:rPr sz="1500" b="0">
                <a:solidFill>
                  <a:srgbClr val="1E3A8A"/>
                </a:solidFill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</a:rPr>
              <a:t>↑ texte exact affiché dans l'application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👀  </a:t>
            </a:r>
            <a:r>
              <a:rPr sz="1800" b="0">
                <a:solidFill>
                  <a:srgbClr val="0F172A"/>
                </a:solidFill>
              </a:rPr>
              <a:t>Le planning se </a:t>
            </a:r>
            <a:r>
              <a:rPr sz="1800" b="1">
                <a:solidFill>
                  <a:srgbClr val="0F172A"/>
                </a:solidFill>
              </a:rPr>
              <a:t>consulte</a:t>
            </a:r>
            <a:r>
              <a:rPr sz="1800" b="0">
                <a:solidFill>
                  <a:srgbClr val="0F172A"/>
                </a:solidFill>
              </a:rPr>
              <a:t> sans possibilité de le modifier.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⚡  </a:t>
            </a:r>
            <a:r>
              <a:rPr sz="1800" b="0">
                <a:solidFill>
                  <a:srgbClr val="0F172A"/>
                </a:solidFill>
              </a:rPr>
              <a:t>Chaque garde posée par l'admin </a:t>
            </a:r>
            <a:r>
              <a:rPr sz="1800" b="1">
                <a:solidFill>
                  <a:srgbClr val="0F172A"/>
                </a:solidFill>
              </a:rPr>
              <a:t>apparaît instantanément</a:t>
            </a:r>
            <a:r>
              <a:rPr sz="1800" b="0">
                <a:solidFill>
                  <a:srgbClr val="0F172A"/>
                </a:solidFill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</a:rPr>
              <a:t>✍️  </a:t>
            </a:r>
            <a:r>
              <a:rPr sz="1800" b="0">
                <a:solidFill>
                  <a:srgbClr val="0F172A"/>
                </a:solidFill>
              </a:rPr>
              <a:t>Seul l'onglet </a:t>
            </a:r>
            <a:r>
              <a:rPr sz="1800" b="1">
                <a:solidFill>
                  <a:srgbClr val="0F172A"/>
                </a:solidFill>
              </a:rPr>
              <a:t>Perso</a:t>
            </a:r>
            <a:r>
              <a:rPr sz="1800" b="0">
                <a:solidFill>
                  <a:srgbClr val="0F172A"/>
                </a:solidFill>
              </a:rPr>
              <a:t> reste modifiable (indispos &amp; vœux), à tout moment.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AFFICHAGE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Quand c'est une autre personne qui choisit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6126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700" b="0">
                <a:solidFill>
                  <a:srgbClr val="64748B"/>
                </a:solidFill>
              </a:rPr>
              <a:t>L'onglet </a:t>
            </a:r>
            <a:r>
              <a:rPr sz="1700" b="1">
                <a:solidFill>
                  <a:srgbClr val="64748B"/>
                </a:solidFill>
              </a:rPr>
              <a:t>Planning</a:t>
            </a:r>
            <a:r>
              <a:rPr sz="1700" b="0">
                <a:solidFill>
                  <a:srgbClr val="64748B"/>
                </a:solidFill>
              </a:rPr>
              <a:t> est affiché </a:t>
            </a:r>
            <a:r>
              <a:rPr sz="1700" b="1">
                <a:solidFill>
                  <a:srgbClr val="64748B"/>
                </a:solidFill>
              </a:rPr>
              <a:t>du point de vue de la personne dont c'est le tour</a:t>
            </a:r>
            <a:r>
              <a:rPr sz="1700" b="0">
                <a:solidFill>
                  <a:srgbClr val="64748B"/>
                </a:solidFill>
              </a:rPr>
              <a:t>, pour l'aider à choisir.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6309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</a:rPr>
              <a:t>🟩  </a:t>
            </a:r>
            <a:r>
              <a:rPr sz="1500" b="1">
                <a:solidFill>
                  <a:srgbClr val="0F172A"/>
                </a:solidFill>
              </a:rPr>
              <a:t>Vert</a:t>
            </a:r>
            <a:r>
              <a:rPr sz="1500" b="0">
                <a:solidFill>
                  <a:srgbClr val="0F172A"/>
                </a:solidFill>
              </a:rPr>
              <a:t> = les gardes de la </a:t>
            </a:r>
            <a:r>
              <a:rPr sz="1500" b="1">
                <a:solidFill>
                  <a:srgbClr val="0F172A"/>
                </a:solidFill>
              </a:rPr>
              <a:t>personne en train de choisir</a:t>
            </a:r>
            <a:r>
              <a:rPr sz="1500" b="0">
                <a:solidFill>
                  <a:srgbClr val="0F172A"/>
                </a:solidFill>
              </a:rPr>
              <a:t> — pas les siennes.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</a:rPr>
              <a:t>⬜  </a:t>
            </a:r>
            <a:r>
              <a:rPr sz="1500" b="1">
                <a:solidFill>
                  <a:srgbClr val="0F172A"/>
                </a:solidFill>
              </a:rPr>
              <a:t>Gris foncé</a:t>
            </a:r>
            <a:r>
              <a:rPr sz="1500" b="0">
                <a:solidFill>
                  <a:srgbClr val="0F172A"/>
                </a:solidFill>
              </a:rPr>
              <a:t> = jour </a:t>
            </a:r>
            <a:r>
              <a:rPr sz="1500" b="1">
                <a:solidFill>
                  <a:srgbClr val="0F172A"/>
                </a:solidFill>
              </a:rPr>
              <a:t>complet</a:t>
            </a:r>
            <a:r>
              <a:rPr sz="1500" b="0">
                <a:solidFill>
                  <a:srgbClr val="0F172A"/>
                </a:solidFill>
              </a:rPr>
              <a:t> (deux sites pris).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</a:rPr>
              <a:t>🔵  </a:t>
            </a:r>
            <a:r>
              <a:rPr sz="1500" b="1">
                <a:solidFill>
                  <a:srgbClr val="0F172A"/>
                </a:solidFill>
              </a:rPr>
              <a:t>Liseré bleu</a:t>
            </a:r>
            <a:r>
              <a:rPr sz="1500" b="0">
                <a:solidFill>
                  <a:srgbClr val="0F172A"/>
                </a:solidFill>
              </a:rPr>
              <a:t> = date encore </a:t>
            </a:r>
            <a:r>
              <a:rPr sz="1500" b="1">
                <a:solidFill>
                  <a:srgbClr val="0F172A"/>
                </a:solidFill>
              </a:rPr>
              <a:t>choisissable</a:t>
            </a:r>
            <a:r>
              <a:rPr sz="1500" b="0">
                <a:solidFill>
                  <a:srgbClr val="0F172A"/>
                </a:solidFill>
              </a:rPr>
              <a:t> par cette personne.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</a:rPr>
              <a:t>🙈  </a:t>
            </a:r>
            <a:r>
              <a:rPr sz="1500" b="0">
                <a:solidFill>
                  <a:srgbClr val="0F172A"/>
                </a:solidFill>
              </a:rPr>
              <a:t>Les vœux / indispos ne sont visibles que par la personne concernée.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6309360" cy="9144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66534"/>
                </a:solidFill>
              </a:rPr>
              <a:t>💡 Pour suivre </a:t>
            </a:r>
            <a:r>
              <a:rPr sz="1400" b="1">
                <a:solidFill>
                  <a:srgbClr val="166534"/>
                </a:solidFill>
              </a:rPr>
              <a:t>ses propres gardes</a:t>
            </a:r>
            <a:r>
              <a:rPr sz="1400" b="0">
                <a:solidFill>
                  <a:srgbClr val="166534"/>
                </a:solidFill>
              </a:rPr>
              <a:t>, ouvrir l'onglet </a:t>
            </a:r>
            <a:r>
              <a:rPr sz="1400" b="1">
                <a:solidFill>
                  <a:srgbClr val="166534"/>
                </a:solidFill>
              </a:rPr>
              <a:t>Perso</a:t>
            </a:r>
            <a:r>
              <a:rPr sz="1400" b="0">
                <a:solidFill>
                  <a:srgbClr val="166534"/>
                </a:solidFill>
              </a:rPr>
              <a:t> : le calendrier y reste centré sur soi.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377440"/>
            <a:ext cx="914400" cy="105156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36576" bIns="1828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3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1">
                <a:solidFill>
                  <a:srgbClr val="166534"/>
                </a:solidFill>
              </a:rPr>
              <a:t>HMN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</a:rPr>
              <a:t>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2377440"/>
            <a:ext cx="914400" cy="1051560"/>
          </a:xfrm>
          <a:prstGeom prst="roundRect">
            <a:avLst/>
          </a:prstGeom>
          <a:solidFill>
            <a:srgbClr val="DDE3E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36576" bIns="1828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4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1">
                <a:solidFill>
                  <a:srgbClr val="475569"/>
                </a:solidFill>
              </a:rPr>
              <a:t>HMN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</a:rPr>
              <a:t>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377440"/>
            <a:ext cx="914400" cy="105156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36576" bIns="1828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5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1">
                <a:solidFill>
                  <a:srgbClr val="1D4ED8"/>
                </a:solidFill>
              </a:rPr>
              <a:t>HMN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</a:rPr>
              <a:t>ACH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78440" y="2377440"/>
            <a:ext cx="91440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36576" bIns="18288"/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6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64748B"/>
                </a:solidFill>
              </a:rPr>
              <a:t>HMN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</a:rPr>
              <a:t>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9" y="3566160"/>
            <a:ext cx="4114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</a:rPr>
              <a:t>Vert = garde de la personne qui choisit · jour complet · date choisissable · jour libre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AFFICHAGE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Quand c'est à son tour de choisir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6309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</a:rPr>
              <a:t>🔔  </a:t>
            </a:r>
            <a:r>
              <a:rPr sz="1700" b="0">
                <a:solidFill>
                  <a:srgbClr val="0F172A"/>
                </a:solidFill>
              </a:rPr>
              <a:t>Une </a:t>
            </a:r>
            <a:r>
              <a:rPr sz="1700" b="1">
                <a:solidFill>
                  <a:srgbClr val="0F172A"/>
                </a:solidFill>
              </a:rPr>
              <a:t>notification</a:t>
            </a:r>
            <a:r>
              <a:rPr sz="1700" b="0">
                <a:solidFill>
                  <a:srgbClr val="0F172A"/>
                </a:solidFill>
              </a:rPr>
              <a:t> « C'est à toi de choisir ! » apparaît, quel que soit l'onglet.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</a:rPr>
              <a:t>💙  </a:t>
            </a:r>
            <a:r>
              <a:rPr sz="1700" b="0">
                <a:solidFill>
                  <a:srgbClr val="0F172A"/>
                </a:solidFill>
              </a:rPr>
              <a:t>Sur le planning, les </a:t>
            </a:r>
            <a:r>
              <a:rPr sz="1700" b="1">
                <a:solidFill>
                  <a:srgbClr val="0F172A"/>
                </a:solidFill>
              </a:rPr>
              <a:t>vœux</a:t>
            </a:r>
            <a:r>
              <a:rPr sz="1700" b="0">
                <a:solidFill>
                  <a:srgbClr val="0F172A"/>
                </a:solidFill>
              </a:rPr>
              <a:t> (bleu) et les </a:t>
            </a:r>
            <a:r>
              <a:rPr sz="1700" b="1">
                <a:solidFill>
                  <a:srgbClr val="0F172A"/>
                </a:solidFill>
              </a:rPr>
              <a:t>indispos</a:t>
            </a:r>
            <a:r>
              <a:rPr sz="1700" b="0">
                <a:solidFill>
                  <a:srgbClr val="0F172A"/>
                </a:solidFill>
              </a:rPr>
              <a:t> (rouge 🚫) du médecin s'affichent pour repérer les bons jours.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</a:rPr>
              <a:t>🔵  </a:t>
            </a:r>
            <a:r>
              <a:rPr sz="1700" b="0">
                <a:solidFill>
                  <a:srgbClr val="0F172A"/>
                </a:solidFill>
              </a:rPr>
              <a:t>Les </a:t>
            </a:r>
            <a:r>
              <a:rPr sz="1700" b="1">
                <a:solidFill>
                  <a:srgbClr val="0F172A"/>
                </a:solidFill>
              </a:rPr>
              <a:t>dates choisissables</a:t>
            </a:r>
            <a:r>
              <a:rPr sz="1700" b="0">
                <a:solidFill>
                  <a:srgbClr val="0F172A"/>
                </a:solidFill>
              </a:rPr>
              <a:t> ressortent en liseré bleu.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</a:rPr>
              <a:t>🧑‍⚕️  </a:t>
            </a:r>
            <a:r>
              <a:rPr sz="1700" b="0">
                <a:solidFill>
                  <a:srgbClr val="0F172A"/>
                </a:solidFill>
              </a:rPr>
              <a:t>👉 </a:t>
            </a:r>
            <a:r>
              <a:rPr sz="1700" b="1">
                <a:solidFill>
                  <a:srgbClr val="0F172A"/>
                </a:solidFill>
              </a:rPr>
              <a:t>C'est l'admin qui pose la garde</a:t>
            </a:r>
            <a:r>
              <a:rPr sz="1700" b="0">
                <a:solidFill>
                  <a:srgbClr val="0F172A"/>
                </a:solidFill>
              </a:rPr>
              <a:t> — il suffit de lui communiquer le choix.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2377440"/>
            <a:ext cx="34747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400" b="0">
                <a:solidFill>
                  <a:srgbClr val="0F172A"/>
                </a:solidFill>
              </a:rPr>
              <a:t>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32004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</a:rPr>
              <a:t>C'est à toi de choisir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65760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</a:rPr>
              <a:t>Tour 2 — à choisir : 1 semaine, 1 WE/férié.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1371600" cy="4114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Voir le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4206240"/>
            <a:ext cx="9144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</a:rPr>
              <a:t>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AIDE-MÉMOIRE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0F172A"/>
                </a:solidFill>
              </a:rPr>
              <a:t>La légende des couleurs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57400"/>
            <a:ext cx="640080" cy="4572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19" y="20299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Garde attribuée  (du choisisseur sur Planning, de soi sur Perso)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640080" cy="457200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7157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Vœu 💙  (visible à son tour)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640080" cy="4572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19" y="34015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Indispo 🚫  (visible à son tour)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640080" cy="4572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19" y="40873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Date choisissable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57400"/>
            <a:ext cx="640080" cy="457200"/>
          </a:xfrm>
          <a:prstGeom prst="roundRect">
            <a:avLst/>
          </a:prstGeom>
          <a:solidFill>
            <a:srgbClr val="DDE3E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20299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Jour complet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743200"/>
            <a:ext cx="64008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7157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Week-end / férié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29000"/>
            <a:ext cx="640080" cy="457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34015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Vendredi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6400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4087368"/>
            <a:ext cx="4754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0F172A"/>
                </a:solidFill>
              </a:rPr>
              <a:t>Jour de semaine libre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74920"/>
            <a:ext cx="10789920" cy="9144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66534"/>
                </a:solidFill>
              </a:rPr>
              <a:t>Une </a:t>
            </a:r>
            <a:r>
              <a:rPr sz="1500" b="1">
                <a:solidFill>
                  <a:srgbClr val="166534"/>
                </a:solidFill>
              </a:rPr>
              <a:t>garde attribuée (vert)</a:t>
            </a:r>
            <a:r>
              <a:rPr sz="1500" b="0">
                <a:solidFill>
                  <a:srgbClr val="166534"/>
                </a:solidFill>
              </a:rPr>
              <a:t> prime toujours : si un vœu tombe sur ce jour, la case reste verte.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</a:rPr>
              <a:t>C'EST TOUT 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</a:rPr>
              <a:t>En résumé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0F172A"/>
                </a:solidFill>
              </a:rPr>
              <a:t>①  </a:t>
            </a:r>
            <a:r>
              <a:rPr sz="2000" b="1">
                <a:solidFill>
                  <a:srgbClr val="0F172A"/>
                </a:solidFill>
              </a:rPr>
              <a:t>Créer son compte</a:t>
            </a:r>
            <a:r>
              <a:rPr sz="2000" b="0">
                <a:solidFill>
                  <a:srgbClr val="0F172A"/>
                </a:solidFill>
              </a:rPr>
              <a:t> et s'associer à son nom.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0F172A"/>
                </a:solidFill>
              </a:rPr>
              <a:t>②  </a:t>
            </a:r>
            <a:r>
              <a:rPr sz="2000" b="1">
                <a:solidFill>
                  <a:srgbClr val="0F172A"/>
                </a:solidFill>
              </a:rPr>
              <a:t>Onglet Perso</a:t>
            </a:r>
            <a:r>
              <a:rPr sz="2000" b="0">
                <a:solidFill>
                  <a:srgbClr val="0F172A"/>
                </a:solidFill>
              </a:rPr>
              <a:t> : poser ses indispos 🚫 et ses vœux 💙 (mono ou double-site).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0F172A"/>
                </a:solidFill>
              </a:rPr>
              <a:t>③  </a:t>
            </a:r>
            <a:r>
              <a:rPr sz="2000" b="1">
                <a:solidFill>
                  <a:srgbClr val="0F172A"/>
                </a:solidFill>
              </a:rPr>
              <a:t>Onglet Planning</a:t>
            </a:r>
            <a:r>
              <a:rPr sz="2000" b="0">
                <a:solidFill>
                  <a:srgbClr val="0F172A"/>
                </a:solidFill>
              </a:rPr>
              <a:t> : suivre l'attribution en temps réel (lecture seule).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0F172A"/>
                </a:solidFill>
              </a:rPr>
              <a:t>④  </a:t>
            </a:r>
            <a:r>
              <a:rPr sz="2000" b="1">
                <a:solidFill>
                  <a:srgbClr val="0F172A"/>
                </a:solidFill>
              </a:rPr>
              <a:t>À son tour</a:t>
            </a:r>
            <a:r>
              <a:rPr sz="2000" b="0">
                <a:solidFill>
                  <a:srgbClr val="0F172A"/>
                </a:solidFill>
              </a:rPr>
              <a:t> : une notification prévient, l'admin pose la garde.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120640"/>
            <a:ext cx="107899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E3A8A"/>
                </a:solidFill>
              </a:rPr>
              <a:t>Une question, un doute sur un vœu ou une indispo ? S'adresser à l'admin — tout se met à jour en direct.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